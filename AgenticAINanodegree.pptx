
<file path=[Content_Types].xml><?xml version="1.0" encoding="utf-8"?>
<Types xmlns="http://schemas.openxmlformats.org/package/2006/content-types">
  <Default Extension="jpeg" ContentType="image/jpeg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8"/>
  </p:notesMasterIdLst>
  <p:sldIdLst>
    <p:sldId id="256" r:id="rId2"/>
    <p:sldId id="258" r:id="rId3"/>
    <p:sldId id="259" r:id="rId4"/>
    <p:sldId id="264" r:id="rId5"/>
    <p:sldId id="266" r:id="rId6"/>
    <p:sldId id="278" r:id="rId7"/>
    <p:sldId id="279" r:id="rId8"/>
    <p:sldId id="280" r:id="rId9"/>
    <p:sldId id="281" r:id="rId10"/>
    <p:sldId id="282" r:id="rId11"/>
    <p:sldId id="283" r:id="rId12"/>
    <p:sldId id="284" r:id="rId13"/>
    <p:sldId id="285" r:id="rId14"/>
    <p:sldId id="286" r:id="rId15"/>
    <p:sldId id="287" r:id="rId16"/>
    <p:sldId id="288" r:id="rId17"/>
    <p:sldId id="289" r:id="rId18"/>
    <p:sldId id="290" r:id="rId19"/>
    <p:sldId id="291" r:id="rId20"/>
    <p:sldId id="292" r:id="rId21"/>
    <p:sldId id="293" r:id="rId22"/>
    <p:sldId id="294" r:id="rId23"/>
    <p:sldId id="295" r:id="rId24"/>
    <p:sldId id="296" r:id="rId25"/>
    <p:sldId id="297" r:id="rId26"/>
    <p:sldId id="298" r:id="rId27"/>
    <p:sldId id="299" r:id="rId28"/>
    <p:sldId id="300" r:id="rId29"/>
    <p:sldId id="301" r:id="rId30"/>
    <p:sldId id="302" r:id="rId31"/>
    <p:sldId id="303" r:id="rId32"/>
    <p:sldId id="304" r:id="rId33"/>
    <p:sldId id="305" r:id="rId34"/>
    <p:sldId id="306" r:id="rId35"/>
    <p:sldId id="307" r:id="rId36"/>
    <p:sldId id="308" r:id="rId37"/>
    <p:sldId id="309" r:id="rId38"/>
    <p:sldId id="310" r:id="rId39"/>
    <p:sldId id="311" r:id="rId40"/>
    <p:sldId id="312" r:id="rId41"/>
    <p:sldId id="314" r:id="rId42"/>
    <p:sldId id="315" r:id="rId43"/>
    <p:sldId id="316" r:id="rId44"/>
    <p:sldId id="317" r:id="rId45"/>
    <p:sldId id="318" r:id="rId46"/>
    <p:sldId id="319" r:id="rId47"/>
    <p:sldId id="321" r:id="rId48"/>
    <p:sldId id="322" r:id="rId49"/>
    <p:sldId id="320" r:id="rId50"/>
    <p:sldId id="323" r:id="rId51"/>
    <p:sldId id="324" r:id="rId52"/>
    <p:sldId id="325" r:id="rId53"/>
    <p:sldId id="326" r:id="rId54"/>
    <p:sldId id="327" r:id="rId55"/>
    <p:sldId id="328" r:id="rId56"/>
    <p:sldId id="329" r:id="rId5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540"/>
    <p:restoredTop sz="94662"/>
  </p:normalViewPr>
  <p:slideViewPr>
    <p:cSldViewPr snapToGrid="0">
      <p:cViewPr varScale="1">
        <p:scale>
          <a:sx n="120" d="100"/>
          <a:sy n="120" d="100"/>
        </p:scale>
        <p:origin x="184" y="1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FE47EFA-F715-781F-7612-3233B4AC123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4958080"/>
            <a:ext cx="531813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40192949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Background circ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92240" y="502920"/>
            <a:ext cx="2377440" cy="2377440"/>
          </a:xfrm>
          <a:prstGeom prst="ellipse">
            <a:avLst/>
          </a:prstGeom>
          <a:solidFill>
            <a:srgbClr val="134A63"/>
          </a:solidFill>
          <a:ln w="12700">
            <a:solidFill>
              <a:srgbClr val="134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Background circle sma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589520" y="2926080"/>
            <a:ext cx="1188720" cy="1188720"/>
          </a:xfrm>
          <a:prstGeom prst="ellipse">
            <a:avLst/>
          </a:prstGeom>
          <a:solidFill>
            <a:srgbClr val="02B3E4">
              <a:alpha val="40000"/>
            </a:srgbClr>
          </a:solidFill>
          <a:ln w="12700">
            <a:solidFill>
              <a:srgbClr val="02B3E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3258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B3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UDACITY  ·  SCHOOL OF ARTIFICIAL INTELLIGENCE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16916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AI Nanodegree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85800" y="2697480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9DDE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advanced prompting to multi-agent systems — what the program teaches, what you build, and what it takes.</a:t>
            </a:r>
            <a:endParaRPr lang="en-US" sz="1400" dirty="0"/>
          </a:p>
        </p:txBody>
      </p:sp>
      <p:sp>
        <p:nvSpPr>
          <p:cNvPr id="8" name="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3703320"/>
            <a:ext cx="640080" cy="36576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3886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B3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 briefing  ·  September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A60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IT IS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F1B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program at a glance</a:t>
            </a:r>
            <a:endParaRPr lang="en-US" sz="2600" dirty="0"/>
          </a:p>
        </p:txBody>
      </p:sp>
      <p:sp>
        <p:nvSpPr>
          <p:cNvPr id="5" name="Title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207008"/>
            <a:ext cx="640080" cy="41148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tat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08760"/>
            <a:ext cx="1874520" cy="1143000"/>
          </a:xfrm>
          <a:prstGeom prst="rect">
            <a:avLst/>
          </a:prstGeom>
          <a:solidFill>
            <a:srgbClr val="F4F7F9"/>
          </a:solidFill>
          <a:ln w="12700">
            <a:solidFill>
              <a:srgbClr val="E2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16916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A60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Intermediate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85800" y="21488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 level</a:t>
            </a:r>
            <a:endParaRPr lang="en-US" sz="1050" dirty="0"/>
          </a:p>
        </p:txBody>
      </p:sp>
      <p:sp>
        <p:nvSpPr>
          <p:cNvPr id="9" name="Stat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87752" y="1508760"/>
            <a:ext cx="1874520" cy="1143000"/>
          </a:xfrm>
          <a:prstGeom prst="rect">
            <a:avLst/>
          </a:prstGeom>
          <a:solidFill>
            <a:srgbClr val="F4F7F9"/>
          </a:solidFill>
          <a:ln w="12700">
            <a:solidFill>
              <a:srgbClr val="E2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70632" y="16916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A60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53 hours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2770632" y="21488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Reviewed project work</a:t>
            </a:r>
            <a:endParaRPr lang="en-US" sz="1050" dirty="0"/>
          </a:p>
        </p:txBody>
      </p:sp>
      <p:sp>
        <p:nvSpPr>
          <p:cNvPr id="12" name="Stat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2584" y="1508760"/>
            <a:ext cx="1874520" cy="1143000"/>
          </a:xfrm>
          <a:prstGeom prst="rect">
            <a:avLst/>
          </a:prstGeom>
          <a:solidFill>
            <a:srgbClr val="F4F7F9"/>
          </a:solidFill>
          <a:ln w="12700">
            <a:solidFill>
              <a:srgbClr val="E2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55464" y="16916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A60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courses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855464" y="21488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portfolio projects</a:t>
            </a:r>
            <a:endParaRPr lang="en-US" sz="1050" dirty="0"/>
          </a:p>
        </p:txBody>
      </p:sp>
      <p:sp>
        <p:nvSpPr>
          <p:cNvPr id="15" name="Stat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57416" y="1508760"/>
            <a:ext cx="1874520" cy="1143000"/>
          </a:xfrm>
          <a:prstGeom prst="rect">
            <a:avLst/>
          </a:prstGeom>
          <a:solidFill>
            <a:srgbClr val="F4F7F9"/>
          </a:solidFill>
          <a:ln w="12700">
            <a:solidFill>
              <a:srgbClr val="E2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940296" y="16916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A60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4.8 / 5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940296" y="21488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581 learner ratings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" y="2971800"/>
            <a:ext cx="8138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Udacity's Agentic AI Nanodegree teaches you to design, build and orchestrate teams of AI agents in Python — agents that reason, plan, use tools, and interact with databases and external APIs. Every project is reviewed by an industry professional, and the curriculum was last refreshed in July 2026.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0292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AI Nanodegree — Udacity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229600" y="47091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B6B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A60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CURRICULUM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F1B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prompts to multi-agent systems</a:t>
            </a:r>
            <a:endParaRPr lang="en-US" sz="2600" dirty="0"/>
          </a:p>
        </p:txBody>
      </p:sp>
      <p:sp>
        <p:nvSpPr>
          <p:cNvPr id="5" name="Title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207008"/>
            <a:ext cx="640080" cy="41148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17320"/>
            <a:ext cx="3954780" cy="1371600"/>
          </a:xfrm>
          <a:prstGeom prst="rect">
            <a:avLst/>
          </a:prstGeom>
          <a:solidFill>
            <a:srgbClr val="F4F7F9"/>
          </a:solidFill>
          <a:ln w="12700">
            <a:solidFill>
              <a:srgbClr val="E2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17320"/>
            <a:ext cx="54864" cy="1371600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40664" y="1581912"/>
            <a:ext cx="34975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F1B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· Prompting for Reasoning and Planning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40664" y="1984248"/>
            <a:ext cx="34975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Chain-of-Thought, ReAct, structured prompts and feedback loops that make a model plan rather than answer.</a:t>
            </a:r>
            <a:endParaRPr lang="en-US" sz="1050" dirty="0"/>
          </a:p>
        </p:txBody>
      </p:sp>
      <p:sp>
        <p:nvSpPr>
          <p:cNvPr id="10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86300" y="1417320"/>
            <a:ext cx="3954780" cy="1371600"/>
          </a:xfrm>
          <a:prstGeom prst="rect">
            <a:avLst/>
          </a:prstGeom>
          <a:solidFill>
            <a:srgbClr val="F4F7F9"/>
          </a:solidFill>
          <a:ln w="12700">
            <a:solidFill>
              <a:srgbClr val="E2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86300" y="1417320"/>
            <a:ext cx="54864" cy="1371600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24044" y="1581912"/>
            <a:ext cx="34975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F1B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· Agentic Workflows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924044" y="1984248"/>
            <a:ext cx="34975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Routing, prompt chaining and parallelization patterns; a reusable agent library for multi-step tasks.</a:t>
            </a:r>
            <a:endParaRPr lang="en-US" sz="1050" dirty="0"/>
          </a:p>
        </p:txBody>
      </p:sp>
      <p:sp>
        <p:nvSpPr>
          <p:cNvPr id="14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017520"/>
            <a:ext cx="3954780" cy="1371600"/>
          </a:xfrm>
          <a:prstGeom prst="rect">
            <a:avLst/>
          </a:prstGeom>
          <a:solidFill>
            <a:srgbClr val="F4F7F9"/>
          </a:solidFill>
          <a:ln w="12700">
            <a:solidFill>
              <a:srgbClr val="E2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017520"/>
            <a:ext cx="54864" cy="1371600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40664" y="3182112"/>
            <a:ext cx="34975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F1B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· Building Agents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40664" y="3584448"/>
            <a:ext cx="34975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 use, state and memory. Agents that search, call APIs and retrieve context with RAG.</a:t>
            </a:r>
            <a:endParaRPr lang="en-US" sz="1050" dirty="0"/>
          </a:p>
        </p:txBody>
      </p:sp>
      <p:sp>
        <p:nvSpPr>
          <p:cNvPr id="18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86300" y="3017520"/>
            <a:ext cx="3954780" cy="1371600"/>
          </a:xfrm>
          <a:prstGeom prst="rect">
            <a:avLst/>
          </a:prstGeom>
          <a:solidFill>
            <a:srgbClr val="F4F7F9"/>
          </a:solidFill>
          <a:ln w="12700">
            <a:solidFill>
              <a:srgbClr val="E2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86300" y="3017520"/>
            <a:ext cx="54864" cy="1371600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924044" y="3182112"/>
            <a:ext cx="34975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F1B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· Multi-Agent Systems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924044" y="3584448"/>
            <a:ext cx="34975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Shared state, role assignment and orchestration across a coordinated team of agents.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02920" y="45262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program teaches agents from raw Python and first principles rather than a single vendor framework.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292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AI Nanodegree — Udacity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229600" y="47091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B6B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A60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PORTFOLIO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F1B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Four projects, reviewed by industry professionals</a:t>
            </a:r>
            <a:endParaRPr lang="en-US" sz="2600" dirty="0"/>
          </a:p>
        </p:txBody>
      </p:sp>
      <p:sp>
        <p:nvSpPr>
          <p:cNvPr id="5" name="Title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207008"/>
            <a:ext cx="640080" cy="41148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17320"/>
            <a:ext cx="3954780" cy="1371600"/>
          </a:xfrm>
          <a:prstGeom prst="rect">
            <a:avLst/>
          </a:prstGeom>
          <a:solidFill>
            <a:srgbClr val="F4F7F9"/>
          </a:solidFill>
          <a:ln w="12700">
            <a:solidFill>
              <a:srgbClr val="E2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17320"/>
            <a:ext cx="54864" cy="1371600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40664" y="1581912"/>
            <a:ext cx="34975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F1B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AgentsVille Trip Planner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40664" y="1984248"/>
            <a:ext cx="34975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Multi-agent travel itinerary — Chain-of-Thought, ReAct, prompt engineering.</a:t>
            </a:r>
            <a:endParaRPr lang="en-US" sz="1050" dirty="0"/>
          </a:p>
        </p:txBody>
      </p:sp>
      <p:sp>
        <p:nvSpPr>
          <p:cNvPr id="10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86300" y="1417320"/>
            <a:ext cx="3954780" cy="1371600"/>
          </a:xfrm>
          <a:prstGeom prst="rect">
            <a:avLst/>
          </a:prstGeom>
          <a:solidFill>
            <a:srgbClr val="F4F7F9"/>
          </a:solidFill>
          <a:ln w="12700">
            <a:solidFill>
              <a:srgbClr val="E2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86300" y="1417320"/>
            <a:ext cx="54864" cy="1371600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24044" y="1581912"/>
            <a:ext cx="34975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F1B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AI-Powered Agentic Workflow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924044" y="1984248"/>
            <a:ext cx="34975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Reusable agent library, routing and prompt chaining for project management.</a:t>
            </a:r>
            <a:endParaRPr lang="en-US" sz="1050" dirty="0"/>
          </a:p>
        </p:txBody>
      </p:sp>
      <p:sp>
        <p:nvSpPr>
          <p:cNvPr id="14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017520"/>
            <a:ext cx="3954780" cy="1371600"/>
          </a:xfrm>
          <a:prstGeom prst="rect">
            <a:avLst/>
          </a:prstGeom>
          <a:solidFill>
            <a:srgbClr val="F4F7F9"/>
          </a:solidFill>
          <a:ln w="12700">
            <a:solidFill>
              <a:srgbClr val="E2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017520"/>
            <a:ext cx="54864" cy="1371600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40664" y="3182112"/>
            <a:ext cx="34975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F1B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UdaPlay AI Research Agent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40664" y="3584448"/>
            <a:ext cx="34975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Stateful research agent — RAG, tool use and agent memory.</a:t>
            </a:r>
            <a:endParaRPr lang="en-US" sz="1050" dirty="0"/>
          </a:p>
        </p:txBody>
      </p:sp>
      <p:sp>
        <p:nvSpPr>
          <p:cNvPr id="18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86300" y="3017520"/>
            <a:ext cx="3954780" cy="1371600"/>
          </a:xfrm>
          <a:prstGeom prst="rect">
            <a:avLst/>
          </a:prstGeom>
          <a:solidFill>
            <a:srgbClr val="F4F7F9"/>
          </a:solidFill>
          <a:ln w="12700">
            <a:solidFill>
              <a:srgbClr val="E2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86300" y="3017520"/>
            <a:ext cx="54864" cy="1371600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924044" y="3182112"/>
            <a:ext cx="34975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F1B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Beaver's Choice Sales System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924044" y="3584448"/>
            <a:ext cx="34975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Coordinated agent sales team — shared state and orchestration.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02920" y="45262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Each submission is graded with written feedback, so the portfolio is defensible in an interview or an internal review.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292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AI Nanodegree — Udacity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229600" y="47091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B6B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A60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 &amp; PREREQUISITES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F1B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it takes to finish</a:t>
            </a:r>
            <a:endParaRPr lang="en-US" sz="2600" dirty="0"/>
          </a:p>
        </p:txBody>
      </p:sp>
      <p:sp>
        <p:nvSpPr>
          <p:cNvPr id="5" name="Title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207008"/>
            <a:ext cx="640080" cy="41148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08760"/>
            <a:ext cx="2560320" cy="1554480"/>
          </a:xfrm>
          <a:prstGeom prst="rect">
            <a:avLst/>
          </a:prstGeom>
          <a:solidFill>
            <a:srgbClr val="F4F7F9"/>
          </a:solidFill>
          <a:ln w="12700">
            <a:solidFill>
              <a:srgbClr val="E2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08760"/>
            <a:ext cx="54864" cy="1554480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40664" y="167335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F1B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2–3 months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40664" y="2075688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Typical completion time, self-paced. Roughly 10–15 hours per week across the four courses.</a:t>
            </a:r>
            <a:endParaRPr lang="en-US" sz="1050" dirty="0"/>
          </a:p>
        </p:txBody>
      </p:sp>
      <p:sp>
        <p:nvSpPr>
          <p:cNvPr id="10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91840" y="1508760"/>
            <a:ext cx="2560320" cy="1554480"/>
          </a:xfrm>
          <a:prstGeom prst="rect">
            <a:avLst/>
          </a:prstGeom>
          <a:solidFill>
            <a:srgbClr val="F4F7F9"/>
          </a:solidFill>
          <a:ln w="12700">
            <a:solidFill>
              <a:srgbClr val="E2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91840" y="1508760"/>
            <a:ext cx="54864" cy="1554480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529584" y="167335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F1B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53 hours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529584" y="2075688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 reviewed project work — Udacity's own estimate for the program content.</a:t>
            </a:r>
            <a:endParaRPr lang="en-US" sz="1050" dirty="0"/>
          </a:p>
        </p:txBody>
      </p:sp>
      <p:sp>
        <p:nvSpPr>
          <p:cNvPr id="14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80760" y="1508760"/>
            <a:ext cx="2560320" cy="1554480"/>
          </a:xfrm>
          <a:prstGeom prst="rect">
            <a:avLst/>
          </a:prstGeom>
          <a:solidFill>
            <a:srgbClr val="F4F7F9"/>
          </a:solidFill>
          <a:ln w="12700">
            <a:solidFill>
              <a:srgbClr val="E2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80760" y="1508760"/>
            <a:ext cx="54864" cy="1554480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318504" y="167335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F1B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Solid Python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318504" y="2075688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 a beginner program. Expects comfortable Python and some exposure to LLMs and prompting.</a:t>
            </a:r>
            <a:endParaRPr lang="en-US" sz="1050" dirty="0"/>
          </a:p>
        </p:txBody>
      </p:sp>
      <p:sp>
        <p:nvSpPr>
          <p:cNvPr id="18" name="Note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337560"/>
            <a:ext cx="8138160" cy="914400"/>
          </a:xfrm>
          <a:prstGeom prst="rect">
            <a:avLst/>
          </a:prstGeom>
          <a:solidFill>
            <a:srgbClr val="0B2A3A"/>
          </a:solidFill>
          <a:ln w="12700">
            <a:solidFill>
              <a:srgbClr val="0B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77240" y="352044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6E7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Format: short video lessons, coding labs, mentor support, and four projects reviewed by industry professionals. Reviewers consistently rate it as genuinely hands-on rather than theoretical — and explicitly not suitable for people new to Python.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0292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AI Nanodegree — Udacity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229600" y="47091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B6B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B3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</a:t>
            </a:r>
            <a:r>
              <a:rPr lang="en-US" sz="1100" b="1" kern="0" spc="200">
                <a:solidFill>
                  <a:srgbClr val="02B3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7680960" cy="10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PROMPTING: REASONING AND PLANNING</a:t>
            </a:r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Course 1, in code</a:t>
            </a:r>
            <a:endParaRPr lang="en-US" sz="3200" dirty="0"/>
          </a:p>
        </p:txBody>
      </p:sp>
      <p:sp>
        <p:nvSpPr>
          <p:cNvPr id="5" name="Text 3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685800" y="2651760"/>
            <a:ext cx="6583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>
                <a:solidFill>
                  <a:srgbClr val="C9DDE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prompting </a:t>
            </a:r>
            <a:r>
              <a:rPr lang="en-US" sz="1300" dirty="0">
                <a:solidFill>
                  <a:srgbClr val="C9DDE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pattern from the lessons</a:t>
            </a:r>
            <a:r>
              <a:rPr lang="en-US" sz="1300">
                <a:solidFill>
                  <a:srgbClr val="C9DDE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,</a:t>
            </a:r>
            <a:r>
              <a:rPr lang="en-US" sz="1300" dirty="0">
                <a:solidFill>
                  <a:srgbClr val="C9DDE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shown as something you can actually build.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A6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AI Nanodegree — Udacity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0" y="47091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7FA6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A60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LESSON 1 · FOUNDATIONS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F1B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 agent perceives, decides, acts</a:t>
            </a:r>
            <a:endParaRPr lang="en-US" sz="2600" dirty="0"/>
          </a:p>
        </p:txBody>
      </p:sp>
      <p:sp>
        <p:nvSpPr>
          <p:cNvPr id="5" name="Title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207008"/>
            <a:ext cx="640080" cy="41148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Perceive — read the environment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Decide — reason about the next step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 — call a tool, then observe the result</a:t>
            </a:r>
            <a:endParaRPr lang="en-US" sz="1300" dirty="0"/>
          </a:p>
        </p:txBody>
      </p:sp>
      <p:sp>
        <p:nvSpPr>
          <p:cNvPr id="7" name="Code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514600"/>
            <a:ext cx="4937760" cy="1737360"/>
          </a:xfrm>
          <a:prstGeom prst="rect">
            <a:avLst/>
          </a:prstGeom>
          <a:solidFill>
            <a:srgbClr val="0B2A3A"/>
          </a:solidFill>
          <a:ln w="12700">
            <a:solidFill>
              <a:srgbClr val="1D54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704088" y="2615184"/>
            <a:ext cx="4535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02B3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LOOP, IN ONE FUNCTION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04088" y="2862072"/>
            <a:ext cx="45720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02B3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not done:</a:t>
            </a: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step = llm(history)</a:t>
            </a: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02B3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step.tool == "final_answer":</a:t>
            </a: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done = True</a:t>
            </a: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02B3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else:</a:t>
            </a: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result = TOOLS[step.tool](**step.args)</a:t>
            </a: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history.append(result)</a:t>
            </a:r>
            <a:endParaRPr lang="en-US" sz="1000" dirty="0"/>
          </a:p>
        </p:txBody>
      </p:sp>
      <p:pic>
        <p:nvPicPr>
          <p:cNvPr id="10" name="Image 0" descr="Illustration: a central agent node linked to search, database, gear and clock tool icons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15000" y="1463040"/>
            <a:ext cx="2926080" cy="1965960"/>
          </a:xfrm>
          <a:prstGeom prst="rect">
            <a:avLst/>
          </a:prstGeom>
        </p:spPr>
      </p:pic>
      <p:sp>
        <p:nvSpPr>
          <p:cNvPr id="11" name="Caption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15000" y="3611880"/>
            <a:ext cx="2926080" cy="640080"/>
          </a:xfrm>
          <a:prstGeom prst="rect">
            <a:avLst/>
          </a:prstGeom>
          <a:solidFill>
            <a:srgbClr val="F4F7F9"/>
          </a:solidFill>
          <a:ln w="12700">
            <a:solidFill>
              <a:srgbClr val="E2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943600" y="37490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B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model never runs anything. Your code does.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0292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AI Nanodegree — Udacity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8229600" y="47091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B6B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A60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LESSON 1 · ANATOMY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F1B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five parts of every agent</a:t>
            </a:r>
            <a:endParaRPr lang="en-US" sz="2600" dirty="0"/>
          </a:p>
        </p:txBody>
      </p:sp>
      <p:sp>
        <p:nvSpPr>
          <p:cNvPr id="5" name="Title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207008"/>
            <a:ext cx="640080" cy="41148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17320"/>
            <a:ext cx="2560320" cy="1234440"/>
          </a:xfrm>
          <a:prstGeom prst="rect">
            <a:avLst/>
          </a:prstGeom>
          <a:solidFill>
            <a:srgbClr val="F4F7F9"/>
          </a:solidFill>
          <a:ln w="12700">
            <a:solidFill>
              <a:srgbClr val="E2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17320"/>
            <a:ext cx="54864" cy="1234440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40664" y="158191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F1B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40664" y="198424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brain — produces text only.</a:t>
            </a:r>
            <a:endParaRPr lang="en-US" sz="1050" dirty="0"/>
          </a:p>
        </p:txBody>
      </p:sp>
      <p:sp>
        <p:nvSpPr>
          <p:cNvPr id="10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91840" y="1417320"/>
            <a:ext cx="2560320" cy="1234440"/>
          </a:xfrm>
          <a:prstGeom prst="rect">
            <a:avLst/>
          </a:prstGeom>
          <a:solidFill>
            <a:srgbClr val="F4F7F9"/>
          </a:solidFill>
          <a:ln w="12700">
            <a:solidFill>
              <a:srgbClr val="E2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91840" y="1417320"/>
            <a:ext cx="54864" cy="1234440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529584" y="158191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F1B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529584" y="198424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Search, queries, APIs, actions.</a:t>
            </a:r>
            <a:endParaRPr lang="en-US" sz="1050" dirty="0"/>
          </a:p>
        </p:txBody>
      </p:sp>
      <p:sp>
        <p:nvSpPr>
          <p:cNvPr id="14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80760" y="1417320"/>
            <a:ext cx="2560320" cy="1234440"/>
          </a:xfrm>
          <a:prstGeom prst="rect">
            <a:avLst/>
          </a:prstGeom>
          <a:solidFill>
            <a:srgbClr val="F4F7F9"/>
          </a:solidFill>
          <a:ln w="12700">
            <a:solidFill>
              <a:srgbClr val="E2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80760" y="1417320"/>
            <a:ext cx="54864" cy="1234440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318504" y="158191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F1B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Instructions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318504" y="198424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system prompt.</a:t>
            </a:r>
            <a:endParaRPr lang="en-US" sz="1050" dirty="0"/>
          </a:p>
        </p:txBody>
      </p:sp>
      <p:sp>
        <p:nvSpPr>
          <p:cNvPr id="18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880360"/>
            <a:ext cx="2560320" cy="1234440"/>
          </a:xfrm>
          <a:prstGeom prst="rect">
            <a:avLst/>
          </a:prstGeom>
          <a:solidFill>
            <a:srgbClr val="F4F7F9"/>
          </a:solidFill>
          <a:ln w="12700">
            <a:solidFill>
              <a:srgbClr val="E2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880360"/>
            <a:ext cx="54864" cy="1234440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40664" y="304495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F1B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Memory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40664" y="344728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This conversation, and past ones.</a:t>
            </a:r>
            <a:endParaRPr lang="en-US" sz="1050" dirty="0"/>
          </a:p>
        </p:txBody>
      </p:sp>
      <p:sp>
        <p:nvSpPr>
          <p:cNvPr id="22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91840" y="2880360"/>
            <a:ext cx="2560320" cy="1234440"/>
          </a:xfrm>
          <a:prstGeom prst="rect">
            <a:avLst/>
          </a:prstGeom>
          <a:solidFill>
            <a:srgbClr val="F4F7F9"/>
          </a:solidFill>
          <a:ln w="12700">
            <a:solidFill>
              <a:srgbClr val="E2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91840" y="2880360"/>
            <a:ext cx="54864" cy="1234440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529584" y="304495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F1B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Orchestration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3529584" y="344728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runtime that executes.</a:t>
            </a:r>
            <a:endParaRPr lang="en-US" sz="1050" dirty="0"/>
          </a:p>
        </p:txBody>
      </p:sp>
      <p:sp>
        <p:nvSpPr>
          <p:cNvPr id="26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80760" y="2880360"/>
            <a:ext cx="2560320" cy="1234440"/>
          </a:xfrm>
          <a:prstGeom prst="rect">
            <a:avLst/>
          </a:prstGeom>
          <a:solidFill>
            <a:srgbClr val="F4F7F9"/>
          </a:solidFill>
          <a:ln w="12700">
            <a:solidFill>
              <a:srgbClr val="E2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80760" y="2880360"/>
            <a:ext cx="54864" cy="1234440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318504" y="304495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F1B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code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318504" y="344728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 + TOOLS dict + history + loop.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0292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AI Nanodegree — Udacity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229600" y="47091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B6B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A60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LESSON 2 · PROMPT DESIGN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F1B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 good prompt actually looks like</a:t>
            </a:r>
            <a:endParaRPr lang="en-US" sz="2600" dirty="0"/>
          </a:p>
        </p:txBody>
      </p:sp>
      <p:sp>
        <p:nvSpPr>
          <p:cNvPr id="5" name="Title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207008"/>
            <a:ext cx="640080" cy="41148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Code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17320"/>
            <a:ext cx="5257800" cy="2926080"/>
          </a:xfrm>
          <a:prstGeom prst="rect">
            <a:avLst/>
          </a:prstGeom>
          <a:solidFill>
            <a:srgbClr val="0B2A3A"/>
          </a:solidFill>
          <a:ln w="12700">
            <a:solidFill>
              <a:srgbClr val="1D54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704088" y="1517904"/>
            <a:ext cx="4855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02B3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 · SYSTEM PROMPT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04088" y="1764792"/>
            <a:ext cx="4892040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7FD1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 = """</a:t>
            </a: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FAE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ROLE</a:t>
            </a: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are a refund agent for an online shop.</a:t>
            </a: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FAE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TASK</a:t>
            </a: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Decide whether a refund request is valid.</a:t>
            </a: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FAE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CONTEXT</a:t>
            </a: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Refund window: 30 days. Today: {today}</a:t>
            </a: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FAE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 FORMAT</a:t>
            </a: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 only: {"decision": ..., "reason": ...}</a:t>
            </a: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FAE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EXAMPLE</a:t>
            </a: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: "Broken on arrival, bought 3 days ago"</a:t>
            </a: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out: {"decision": "approve",</a:t>
            </a: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"reason": "Defective, within window."}</a:t>
            </a: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7FD1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</a:t>
            </a:r>
            <a:endParaRPr lang="en-US" sz="1000" dirty="0"/>
          </a:p>
        </p:txBody>
      </p:sp>
      <p:sp>
        <p:nvSpPr>
          <p:cNvPr id="9" name="Note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89320" y="1417320"/>
            <a:ext cx="2651760" cy="2926080"/>
          </a:xfrm>
          <a:prstGeom prst="rect">
            <a:avLst/>
          </a:prstGeom>
          <a:solidFill>
            <a:srgbClr val="F4F7F9"/>
          </a:solidFill>
          <a:ln w="12700">
            <a:solidFill>
              <a:srgbClr val="E2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Panel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89320" y="1417320"/>
            <a:ext cx="54864" cy="2926080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45352" y="155448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0A60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FIVE LEVERS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245352" y="1828800"/>
            <a:ext cx="2194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Role — who the model is</a:t>
            </a:r>
            <a:endParaRPr lang="en-US" sz="1050" dirty="0"/>
          </a:p>
          <a:p>
            <a:pPr marL="0" indent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Task — the one instruction</a:t>
            </a:r>
            <a:endParaRPr lang="en-US" sz="1050" dirty="0"/>
          </a:p>
          <a:p>
            <a:pPr marL="0" indent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 — what it cannot know</a:t>
            </a:r>
            <a:endParaRPr lang="en-US" sz="1050" dirty="0"/>
          </a:p>
          <a:p>
            <a:pPr marL="0" indent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 format — machine-readable</a:t>
            </a:r>
            <a:endParaRPr lang="en-US" sz="1050" dirty="0"/>
          </a:p>
          <a:p>
            <a:pPr marL="0" indent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Examples — one shot beats a paragraph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AI Nanodegree — Udacity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229600" y="47091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B6B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A60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LESSON 2 · PERSONAS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F1B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Swap the role, swap the voice</a:t>
            </a:r>
            <a:endParaRPr lang="en-US" sz="2600" dirty="0"/>
          </a:p>
        </p:txBody>
      </p:sp>
      <p:sp>
        <p:nvSpPr>
          <p:cNvPr id="5" name="Title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207008"/>
            <a:ext cx="640080" cy="41148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Code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17320"/>
            <a:ext cx="4937760" cy="1234440"/>
          </a:xfrm>
          <a:prstGeom prst="rect">
            <a:avLst/>
          </a:prstGeom>
          <a:solidFill>
            <a:srgbClr val="0B2A3A"/>
          </a:solidFill>
          <a:ln w="12700">
            <a:solidFill>
              <a:srgbClr val="1D54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704088" y="1517904"/>
            <a:ext cx="4535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02B3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 · ONE QUESTION, THREE ROLES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04088" y="1764792"/>
            <a:ext cx="45720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role in ["a scientist", "a poet",</a:t>
            </a: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"a 17th-century pirate"]:</a:t>
            </a: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ask(f"You are {role}. Describe cats"</a:t>
            </a: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f" in one sentence.")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283464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Scientist — "Cats are common domestic pets, playful and independent."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Poet — "Cats are celebrated for their playful antics and self-reliant nature."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Pirate — "Cats be beloved mates, prized for their cheeky antics."</a:t>
            </a:r>
            <a:endParaRPr lang="en-US" sz="1150" dirty="0"/>
          </a:p>
        </p:txBody>
      </p:sp>
      <p:pic>
        <p:nvPicPr>
          <p:cNvPr id="10" name="Image 0" descr="Illustration: a row of abstract persona masks representing different assigned roles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15000" y="1463040"/>
            <a:ext cx="2926080" cy="1965960"/>
          </a:xfrm>
          <a:prstGeom prst="rect">
            <a:avLst/>
          </a:prstGeom>
        </p:spPr>
      </p:pic>
      <p:sp>
        <p:nvSpPr>
          <p:cNvPr id="11" name="Caption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15000" y="3611880"/>
            <a:ext cx="2926080" cy="640080"/>
          </a:xfrm>
          <a:prstGeom prst="rect">
            <a:avLst/>
          </a:prstGeom>
          <a:solidFill>
            <a:srgbClr val="F4F7F9"/>
          </a:solidFill>
          <a:ln w="12700">
            <a:solidFill>
              <a:srgbClr val="E2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943600" y="376732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B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role named? The model invents one.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0292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AI Nanodegree — Udacity</a:t>
            </a:r>
            <a:endParaRPr lang="en-US" sz="900" dirty="0"/>
          </a:p>
        </p:txBody>
      </p:sp>
      <p:sp>
        <p:nvSpPr>
          <p:cNvPr id="14" name="Text 11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8229600" y="47091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B6B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A60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LESSON 2 · EVALUATION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F1B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Write the test before you tune the prompt</a:t>
            </a:r>
            <a:endParaRPr lang="en-US" sz="2600" dirty="0"/>
          </a:p>
        </p:txBody>
      </p:sp>
      <p:sp>
        <p:nvSpPr>
          <p:cNvPr id="5" name="Title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207008"/>
            <a:ext cx="640080" cy="41148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Code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17320"/>
            <a:ext cx="5257800" cy="2926080"/>
          </a:xfrm>
          <a:prstGeom prst="rect">
            <a:avLst/>
          </a:prstGeom>
          <a:solidFill>
            <a:srgbClr val="0B2A3A"/>
          </a:solidFill>
          <a:ln w="12700">
            <a:solidFill>
              <a:srgbClr val="1D54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04088" y="1517904"/>
            <a:ext cx="4855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02B3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 · GROUND TRUTH + SCORING</a:t>
            </a:r>
            <a:endParaRPr lang="en-US" sz="850" dirty="0"/>
          </a:p>
        </p:txBody>
      </p:sp>
      <p:sp>
        <p:nvSpPr>
          <p:cNvPr id="8" name="Text 6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704088" y="1764792"/>
            <a:ext cx="4892040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02B3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CASES = [</a:t>
            </a: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{"q": "What is 1 + 1?", "a": "2"},</a:t>
            </a: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02B3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score(out, case):</a:t>
            </a: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yield case["a"] in out        # correct</a:t>
            </a: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yield out.count(".") == 1     # 1 sentence</a:t>
            </a: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yield "yar" in out.lower()    # in character</a:t>
            </a: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02B3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c in CASES:</a:t>
            </a: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out = llm(SYSTEM, c["q"])</a:t>
            </a: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log(c, out, list(score(out, c)))</a:t>
            </a:r>
            <a:endParaRPr lang="en-US" sz="1000" dirty="0"/>
          </a:p>
        </p:txBody>
      </p:sp>
      <p:sp>
        <p:nvSpPr>
          <p:cNvPr id="9" name="Note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89320" y="1417320"/>
            <a:ext cx="2651760" cy="2926080"/>
          </a:xfrm>
          <a:prstGeom prst="rect">
            <a:avLst/>
          </a:prstGeom>
          <a:solidFill>
            <a:srgbClr val="F4F7F9"/>
          </a:solidFill>
          <a:ln w="12700">
            <a:solidFill>
              <a:srgbClr val="E2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Panel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89320" y="1417320"/>
            <a:ext cx="54864" cy="2926080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45352" y="155448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0A60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TO MEASURE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245352" y="1828800"/>
            <a:ext cx="2194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Accuracy against the ideal answer</a:t>
            </a:r>
            <a:endParaRPr lang="en-US" sz="1050" dirty="0"/>
          </a:p>
          <a:p>
            <a:pPr marL="0" indent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Format — parseable every time</a:t>
            </a:r>
            <a:endParaRPr lang="en-US" sz="1050" dirty="0"/>
          </a:p>
          <a:p>
            <a:pPr marL="0" indent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Persona held under off-topic input</a:t>
            </a:r>
            <a:endParaRPr lang="en-US" sz="1050" dirty="0"/>
          </a:p>
          <a:p>
            <a:pPr marL="0" indent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Free text? Let a second model judge</a:t>
            </a:r>
            <a:endParaRPr lang="en-US" sz="1050" dirty="0"/>
          </a:p>
          <a:p>
            <a:pPr marL="0" indent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Always read a few raw traces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AI Nanodegree — Udacity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229600" y="47091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B6B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A60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LESSON 3 · REASONING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F1B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Chain-of-Thought: make it show its work</a:t>
            </a:r>
            <a:endParaRPr lang="en-US" sz="2600" dirty="0"/>
          </a:p>
        </p:txBody>
      </p:sp>
      <p:sp>
        <p:nvSpPr>
          <p:cNvPr id="5" name="Title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207008"/>
            <a:ext cx="640080" cy="41148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Code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17320"/>
            <a:ext cx="4937760" cy="1051560"/>
          </a:xfrm>
          <a:prstGeom prst="rect">
            <a:avLst/>
          </a:prstGeom>
          <a:solidFill>
            <a:srgbClr val="0B2A3A"/>
          </a:solidFill>
          <a:ln w="12700">
            <a:solidFill>
              <a:srgbClr val="1D54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704088" y="1517904"/>
            <a:ext cx="4535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02B3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 · ZERO-SHOT COT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04088" y="1764792"/>
            <a:ext cx="45720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 = "A pen costs 3, a book 12. I buy"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 2 pens and 1 book. Total?"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7FD1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answer = llm(q + "\nLet's think step by step.")</a:t>
            </a:r>
            <a:endParaRPr lang="en-US" sz="950" dirty="0"/>
          </a:p>
        </p:txBody>
      </p:sp>
      <p:sp>
        <p:nvSpPr>
          <p:cNvPr id="9" name="Code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651760"/>
            <a:ext cx="4937760" cy="1600200"/>
          </a:xfrm>
          <a:prstGeom prst="rect">
            <a:avLst/>
          </a:prstGeom>
          <a:solidFill>
            <a:srgbClr val="0B2A3A"/>
          </a:solidFill>
          <a:ln w="12700">
            <a:solidFill>
              <a:srgbClr val="1D54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704088" y="2752344"/>
            <a:ext cx="4535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02B3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OUTPUT</a:t>
            </a:r>
            <a:endParaRPr lang="en-US" sz="850" dirty="0"/>
          </a:p>
        </p:txBody>
      </p:sp>
      <p:sp>
        <p:nvSpPr>
          <p:cNvPr id="11" name="Text 9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704088" y="2999232"/>
            <a:ext cx="457200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FAE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pens = 2 x 3 = 6</a:t>
            </a: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FAE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book = 12</a:t>
            </a: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FAE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+ 12 = 18</a:t>
            </a: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7FD1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Answer: 18</a:t>
            </a:r>
            <a:endParaRPr lang="en-US" sz="1000" dirty="0"/>
          </a:p>
        </p:txBody>
      </p:sp>
      <p:pic>
        <p:nvPicPr>
          <p:cNvPr id="12" name="Image 0" descr="Illustration: ascending connected steps leading to a bright endpoin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15000" y="1463040"/>
            <a:ext cx="2926080" cy="1965960"/>
          </a:xfrm>
          <a:prstGeom prst="rect">
            <a:avLst/>
          </a:prstGeom>
        </p:spPr>
      </p:pic>
      <p:sp>
        <p:nvSpPr>
          <p:cNvPr id="13" name="Caption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15000" y="3611880"/>
            <a:ext cx="2926080" cy="640080"/>
          </a:xfrm>
          <a:prstGeom prst="rect">
            <a:avLst/>
          </a:prstGeom>
          <a:solidFill>
            <a:srgbClr val="F4F7F9"/>
          </a:solidFill>
          <a:ln w="12700">
            <a:solidFill>
              <a:srgbClr val="E2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5943600" y="37490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B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 get accuracy — and steps you can inspect.</a:t>
            </a:r>
            <a:endParaRPr lang="en-US" sz="1100" dirty="0"/>
          </a:p>
        </p:txBody>
      </p:sp>
      <p:sp>
        <p:nvSpPr>
          <p:cNvPr id="15" name="Text 12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50292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AI Nanodegree — Udacity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8229600" y="47091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B6B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A60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LESSON 3 · REACT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F1B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ReAct: thought, action, observation</a:t>
            </a:r>
            <a:endParaRPr lang="en-US" sz="2600" dirty="0"/>
          </a:p>
        </p:txBody>
      </p:sp>
      <p:sp>
        <p:nvSpPr>
          <p:cNvPr id="5" name="Title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207008"/>
            <a:ext cx="640080" cy="41148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Code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17320"/>
            <a:ext cx="4937760" cy="2834640"/>
          </a:xfrm>
          <a:prstGeom prst="rect">
            <a:avLst/>
          </a:prstGeom>
          <a:solidFill>
            <a:srgbClr val="0B2A3A"/>
          </a:solidFill>
          <a:ln w="12700">
            <a:solidFill>
              <a:srgbClr val="1D54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04088" y="1517904"/>
            <a:ext cx="4535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02B3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REAL TRANSCRIPT</a:t>
            </a:r>
            <a:endParaRPr lang="en-US" sz="850" dirty="0"/>
          </a:p>
        </p:txBody>
      </p:sp>
      <p:sp>
        <p:nvSpPr>
          <p:cNvPr id="8" name="Text 6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704088" y="1764792"/>
            <a:ext cx="4572000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FAE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Thought: I need the weather in Berlin.</a:t>
            </a: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Action: {"tool": "get_weather",</a:t>
            </a: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"args": {"city": "Berlin"}}</a:t>
            </a: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7FD1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Observation: 18 C, light rain</a:t>
            </a: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FAE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Thought: I can answer now.</a:t>
            </a: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Action: {"tool": "final_answer",</a:t>
            </a: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"args": {"text": "18 C, rain."}}</a:t>
            </a: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7FD1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Observation: -</a:t>
            </a: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FAE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 model emits JSON, your runtime runs it</a:t>
            </a:r>
            <a:endParaRPr lang="en-US" sz="1000" dirty="0"/>
          </a:p>
        </p:txBody>
      </p:sp>
      <p:pic>
        <p:nvPicPr>
          <p:cNvPr id="9" name="Image 0" descr="Illustration: a circular loop with three nodes, one branching out to an external tool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15000" y="1463040"/>
            <a:ext cx="2926080" cy="1965960"/>
          </a:xfrm>
          <a:prstGeom prst="rect">
            <a:avLst/>
          </a:prstGeom>
        </p:spPr>
      </p:pic>
      <p:sp>
        <p:nvSpPr>
          <p:cNvPr id="10" name="Caption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15000" y="3611880"/>
            <a:ext cx="2926080" cy="640080"/>
          </a:xfrm>
          <a:prstGeom prst="rect">
            <a:avLst/>
          </a:prstGeom>
          <a:solidFill>
            <a:srgbClr val="F4F7F9"/>
          </a:solidFill>
          <a:ln w="12700">
            <a:solidFill>
              <a:srgbClr val="E2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943600" y="37490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B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turn stays in the history. Cap the loop.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0292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AI Nanodegree — Udacity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229600" y="47091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B6B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A60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LESSON 4 · WORKFLOWS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F1B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 chaining, with a gate between links</a:t>
            </a:r>
            <a:endParaRPr lang="en-US" sz="2600" dirty="0"/>
          </a:p>
        </p:txBody>
      </p:sp>
      <p:sp>
        <p:nvSpPr>
          <p:cNvPr id="5" name="Title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207008"/>
            <a:ext cx="640080" cy="41148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Code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17320"/>
            <a:ext cx="4937760" cy="2834640"/>
          </a:xfrm>
          <a:prstGeom prst="rect">
            <a:avLst/>
          </a:prstGeom>
          <a:solidFill>
            <a:srgbClr val="0B2A3A"/>
          </a:solidFill>
          <a:ln w="12700">
            <a:solidFill>
              <a:srgbClr val="1D54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04088" y="1517904"/>
            <a:ext cx="4535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02B3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 · THREE-STEP CHAIN</a:t>
            </a:r>
            <a:endParaRPr lang="en-US" sz="850" dirty="0"/>
          </a:p>
        </p:txBody>
      </p:sp>
      <p:sp>
        <p:nvSpPr>
          <p:cNvPr id="8" name="Text 6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704088" y="1764792"/>
            <a:ext cx="4572000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facts = llm(f"List 5 facts about {topic}")</a:t>
            </a: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outline = llm(f"Outline a post:\n{facts}")</a:t>
            </a: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FAE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gate check before the next link</a:t>
            </a: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02B3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len(outline.splitlines()) &lt; 3:</a:t>
            </a: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outline = llm("Add more sections:\n"</a:t>
            </a: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+ outline)</a:t>
            </a: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= llm(f"Write the post:\n{outline}")</a:t>
            </a:r>
            <a:endParaRPr lang="en-US" sz="1000" dirty="0"/>
          </a:p>
        </p:txBody>
      </p:sp>
      <p:pic>
        <p:nvPicPr>
          <p:cNvPr id="9" name="Image 0" descr="Illustration: three linked blocks in a horizontal pipeline, each feeding the nex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15000" y="1463040"/>
            <a:ext cx="2926080" cy="1965960"/>
          </a:xfrm>
          <a:prstGeom prst="rect">
            <a:avLst/>
          </a:prstGeom>
        </p:spPr>
      </p:pic>
      <p:sp>
        <p:nvSpPr>
          <p:cNvPr id="10" name="Caption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15000" y="3611880"/>
            <a:ext cx="2926080" cy="640080"/>
          </a:xfrm>
          <a:prstGeom prst="rect">
            <a:avLst/>
          </a:prstGeom>
          <a:solidFill>
            <a:srgbClr val="F4F7F9"/>
          </a:solidFill>
          <a:ln w="12700">
            <a:solidFill>
              <a:srgbClr val="E2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943600" y="37490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B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 fix the order. ReAct lets the model pick it.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0292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AI Nanodegree — Udacity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229600" y="47091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B6B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A60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LESSON 4 · ITERATION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F1B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Feedback loops: draft, critique, revise</a:t>
            </a:r>
            <a:endParaRPr lang="en-US" sz="2600" dirty="0"/>
          </a:p>
        </p:txBody>
      </p:sp>
      <p:sp>
        <p:nvSpPr>
          <p:cNvPr id="5" name="Title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207008"/>
            <a:ext cx="640080" cy="41148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Code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17320"/>
            <a:ext cx="5257800" cy="2926080"/>
          </a:xfrm>
          <a:prstGeom prst="rect">
            <a:avLst/>
          </a:prstGeom>
          <a:solidFill>
            <a:srgbClr val="0B2A3A"/>
          </a:solidFill>
          <a:ln w="12700">
            <a:solidFill>
              <a:srgbClr val="1D54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04088" y="1517904"/>
            <a:ext cx="4855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02B3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 · SELF-CRITIQUE LOOP</a:t>
            </a:r>
            <a:endParaRPr lang="en-US" sz="850" dirty="0"/>
          </a:p>
        </p:txBody>
      </p:sp>
      <p:sp>
        <p:nvSpPr>
          <p:cNvPr id="8" name="Text 6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704088" y="1764792"/>
            <a:ext cx="4892040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draft = llm(f"Reply to this email:\n{email}")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02B3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_ in range(3):          # always cap it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critique = llm(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f"Too blunt? Say OK or fix it:\n{draft}")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02B3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critique.startswith("OK"):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02B3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break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draft = llm(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f"Revise using:\n{critique}\n{draft}")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8FAE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nothing retrained - the fix lives in context</a:t>
            </a:r>
            <a:endParaRPr lang="en-US" sz="950" dirty="0"/>
          </a:p>
        </p:txBody>
      </p:sp>
      <p:sp>
        <p:nvSpPr>
          <p:cNvPr id="9" name="Note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89320" y="1417320"/>
            <a:ext cx="2651760" cy="2926080"/>
          </a:xfrm>
          <a:prstGeom prst="rect">
            <a:avLst/>
          </a:prstGeom>
          <a:solidFill>
            <a:srgbClr val="F4F7F9"/>
          </a:solidFill>
          <a:ln w="12700">
            <a:solidFill>
              <a:srgbClr val="E2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Panel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89320" y="1417320"/>
            <a:ext cx="54864" cy="2926080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45352" y="155448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0A60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 CRITIQUES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245352" y="1828800"/>
            <a:ext cx="2194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unit test or validator</a:t>
            </a:r>
            <a:endParaRPr lang="en-US" sz="1050" dirty="0"/>
          </a:p>
          <a:p>
            <a:pPr marL="0" indent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second model</a:t>
            </a:r>
            <a:endParaRPr lang="en-US" sz="1050" dirty="0"/>
          </a:p>
          <a:p>
            <a:pPr marL="0" indent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plain Python function</a:t>
            </a:r>
            <a:endParaRPr lang="en-US" sz="1050" dirty="0"/>
          </a:p>
          <a:p>
            <a:pPr marL="0" indent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human, for the risky calls</a:t>
            </a:r>
            <a:endParaRPr lang="en-US" sz="1050" dirty="0"/>
          </a:p>
          <a:p>
            <a:pPr marL="0" indent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Iterating is what makes it agentic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AI Nanodegree — Udacity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229600" y="47091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B6B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B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2B3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COURSE 1 · RECAP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Five things to take into Course 2</a:t>
            </a:r>
            <a:endParaRPr lang="en-US" sz="2600" dirty="0"/>
          </a:p>
        </p:txBody>
      </p:sp>
      <p:sp>
        <p:nvSpPr>
          <p:cNvPr id="5" name="Number bulle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673352"/>
            <a:ext cx="256032" cy="256032"/>
          </a:xfrm>
          <a:prstGeom prst="ellipse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548640" y="1691640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960120" y="1636776"/>
            <a:ext cx="7635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6E7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 agent is an LLM, tools, memory — and a loop that runs them.</a:t>
            </a:r>
            <a:endParaRPr lang="en-US" sz="1300" dirty="0"/>
          </a:p>
        </p:txBody>
      </p:sp>
      <p:sp>
        <p:nvSpPr>
          <p:cNvPr id="8" name="Number bulle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240280"/>
            <a:ext cx="256032" cy="256032"/>
          </a:xfrm>
          <a:prstGeom prst="ellipse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2258568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Text 8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960120" y="2203704"/>
            <a:ext cx="7635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6E7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prompt is the program: role, task, context, format, examples.</a:t>
            </a:r>
            <a:endParaRPr lang="en-US" sz="1300" dirty="0"/>
          </a:p>
        </p:txBody>
      </p:sp>
      <p:sp>
        <p:nvSpPr>
          <p:cNvPr id="11" name="Number bulle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807208"/>
            <a:ext cx="256032" cy="256032"/>
          </a:xfrm>
          <a:prstGeom prst="ellipse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2825496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60120" y="2770632"/>
            <a:ext cx="7635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6E7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"Let's think step by step" buys accuracy and inspectable steps.</a:t>
            </a:r>
            <a:endParaRPr lang="en-US" sz="1300" dirty="0"/>
          </a:p>
        </p:txBody>
      </p:sp>
      <p:sp>
        <p:nvSpPr>
          <p:cNvPr id="14" name="Number bulle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374136"/>
            <a:ext cx="256032" cy="256032"/>
          </a:xfrm>
          <a:prstGeom prst="ellipse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548640" y="3392424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60120" y="3337560"/>
            <a:ext cx="7635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6E7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ReAct: the model emits JSON actions, your runtime executes them.</a:t>
            </a:r>
            <a:endParaRPr lang="en-US" sz="1300" dirty="0"/>
          </a:p>
        </p:txBody>
      </p:sp>
      <p:sp>
        <p:nvSpPr>
          <p:cNvPr id="17" name="Number bulle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941064"/>
            <a:ext cx="256032" cy="256032"/>
          </a:xfrm>
          <a:prstGeom prst="ellipse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548640" y="395935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000" dirty="0"/>
          </a:p>
        </p:txBody>
      </p:sp>
      <p:sp>
        <p:nvSpPr>
          <p:cNvPr id="19" name="Text 17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960120" y="3904488"/>
            <a:ext cx="7635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6E7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Define a ground truth and score every run against it.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A6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AI Nanodegree — Udacity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229600" y="47091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7FA6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B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B3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</a:t>
            </a:r>
            <a:r>
              <a:rPr lang="en-US" sz="1100" b="1" kern="0" spc="200">
                <a:solidFill>
                  <a:srgbClr val="02B3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7680960" cy="10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WORKFLOWS</a:t>
            </a:r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Course 2, in code</a:t>
            </a:r>
            <a:endParaRPr lang="en-US" sz="3200" dirty="0"/>
          </a:p>
        </p:txBody>
      </p:sp>
      <p:sp>
        <p:nvSpPr>
          <p:cNvPr id="5" name="Text 3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685800" y="2651760"/>
            <a:ext cx="6583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>
                <a:solidFill>
                  <a:srgbClr val="C9DDE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Five workflow patterns </a:t>
            </a:r>
            <a:r>
              <a:rPr lang="en-US" sz="1300" dirty="0">
                <a:solidFill>
                  <a:srgbClr val="C9DDE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base Python and one LLM API — no framework.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A6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AI Nanodegree — Udacity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0" y="47091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7FA6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A60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LESSON 1 · WHY AGENTS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F1B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 if-statement cannot improvise</a:t>
            </a:r>
            <a:endParaRPr lang="en-US" sz="2600" dirty="0"/>
          </a:p>
        </p:txBody>
      </p:sp>
      <p:sp>
        <p:nvSpPr>
          <p:cNvPr id="5" name="Title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207008"/>
            <a:ext cx="640080" cy="41148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Code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17320"/>
            <a:ext cx="3977640" cy="1417320"/>
          </a:xfrm>
          <a:prstGeom prst="rect">
            <a:avLst/>
          </a:prstGeom>
          <a:solidFill>
            <a:srgbClr val="0B2A3A"/>
          </a:solidFill>
          <a:ln w="12700">
            <a:solidFill>
              <a:srgbClr val="1D54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04088" y="1517904"/>
            <a:ext cx="3575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02B3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DETERMINISTIC FUNCTION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04088" y="1764792"/>
            <a:ext cx="36118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02B3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reply(q):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02B3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q == "hello there":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"Hi! How can I help?"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"I cannot respond to that."</a:t>
            </a:r>
            <a:endParaRPr lang="en-US" sz="950" dirty="0"/>
          </a:p>
        </p:txBody>
      </p:sp>
      <p:sp>
        <p:nvSpPr>
          <p:cNvPr id="9" name="Code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1417320"/>
            <a:ext cx="3977640" cy="1600200"/>
          </a:xfrm>
          <a:prstGeom prst="rect">
            <a:avLst/>
          </a:prstGeom>
          <a:solidFill>
            <a:srgbClr val="0B2A3A"/>
          </a:solidFill>
          <a:ln w="12700">
            <a:solidFill>
              <a:srgbClr val="1D54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64608" y="1517904"/>
            <a:ext cx="3575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02B3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LLM-POWERED FUNCTION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864608" y="1764792"/>
            <a:ext cx="361188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02B3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reply(q):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 = client.chat.completions.create(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model="gpt-4",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messages=[{"role": "user",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"content": q}])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r.choices[0].message.content</a:t>
            </a:r>
            <a:endParaRPr lang="en-US" sz="950" dirty="0"/>
          </a:p>
        </p:txBody>
      </p:sp>
      <p:sp>
        <p:nvSpPr>
          <p:cNvPr id="12" name="Note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246120"/>
            <a:ext cx="8138160" cy="1051560"/>
          </a:xfrm>
          <a:prstGeom prst="rect">
            <a:avLst/>
          </a:prstGeom>
          <a:solidFill>
            <a:srgbClr val="F4F7F9"/>
          </a:solidFill>
          <a:ln w="12700">
            <a:solidFill>
              <a:srgbClr val="E2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Panel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246120"/>
            <a:ext cx="54864" cy="1051560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58952" y="3383280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0A60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SAME INPUT: "TELL ME A JOKE"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58952" y="365760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Deterministic — falls off the end of the if: "I cannot respond to that."</a:t>
            </a:r>
            <a:endParaRPr lang="en-US" sz="1050" dirty="0"/>
          </a:p>
          <a:p>
            <a:pPr marL="0" indent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 — answers with something it was never programmed to say. That flexibility is what makes a workflow agentic.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AI Nanodegree — Udacity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229600" y="47091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B6B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A60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LESSON 2 · ANATOMY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F1B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actually defines an agent</a:t>
            </a:r>
            <a:endParaRPr lang="en-US" sz="2600" dirty="0"/>
          </a:p>
        </p:txBody>
      </p:sp>
      <p:sp>
        <p:nvSpPr>
          <p:cNvPr id="5" name="Title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207008"/>
            <a:ext cx="640080" cy="41148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17320"/>
            <a:ext cx="2560320" cy="1234440"/>
          </a:xfrm>
          <a:prstGeom prst="rect">
            <a:avLst/>
          </a:prstGeom>
          <a:solidFill>
            <a:srgbClr val="F4F7F9"/>
          </a:solidFill>
          <a:ln w="12700">
            <a:solidFill>
              <a:srgbClr val="E2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17320"/>
            <a:ext cx="54864" cy="1234440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40664" y="158191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F1B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Persona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40664" y="198424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 it is — set in the system prompt.</a:t>
            </a:r>
            <a:endParaRPr lang="en-US" sz="1050" dirty="0"/>
          </a:p>
        </p:txBody>
      </p:sp>
      <p:sp>
        <p:nvSpPr>
          <p:cNvPr id="10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91840" y="1417320"/>
            <a:ext cx="2560320" cy="1234440"/>
          </a:xfrm>
          <a:prstGeom prst="rect">
            <a:avLst/>
          </a:prstGeom>
          <a:solidFill>
            <a:srgbClr val="F4F7F9"/>
          </a:solidFill>
          <a:ln w="12700">
            <a:solidFill>
              <a:srgbClr val="E2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91840" y="1417320"/>
            <a:ext cx="54864" cy="1234440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529584" y="158191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F1B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Knowledge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529584" y="198424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Training, fine-tuning, tools, memory.</a:t>
            </a:r>
            <a:endParaRPr lang="en-US" sz="1050" dirty="0"/>
          </a:p>
        </p:txBody>
      </p:sp>
      <p:sp>
        <p:nvSpPr>
          <p:cNvPr id="14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80760" y="1417320"/>
            <a:ext cx="2560320" cy="1234440"/>
          </a:xfrm>
          <a:prstGeom prst="rect">
            <a:avLst/>
          </a:prstGeom>
          <a:solidFill>
            <a:srgbClr val="F4F7F9"/>
          </a:solidFill>
          <a:ln w="12700">
            <a:solidFill>
              <a:srgbClr val="E2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80760" y="1417320"/>
            <a:ext cx="54864" cy="1234440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318504" y="158191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F1B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Prompting strategy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318504" y="198424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Zero-shot, few-shot, CoT, ReAct.</a:t>
            </a:r>
            <a:endParaRPr lang="en-US" sz="1050" dirty="0"/>
          </a:p>
        </p:txBody>
      </p:sp>
      <p:sp>
        <p:nvSpPr>
          <p:cNvPr id="18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880360"/>
            <a:ext cx="2560320" cy="1234440"/>
          </a:xfrm>
          <a:prstGeom prst="rect">
            <a:avLst/>
          </a:prstGeom>
          <a:solidFill>
            <a:srgbClr val="F4F7F9"/>
          </a:solidFill>
          <a:ln w="12700">
            <a:solidFill>
              <a:srgbClr val="E2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880360"/>
            <a:ext cx="54864" cy="1234440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40664" y="304495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F1B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Execution &amp; tools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40664" y="344728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Search, queries, code, other agents.</a:t>
            </a:r>
            <a:endParaRPr lang="en-US" sz="1050" dirty="0"/>
          </a:p>
        </p:txBody>
      </p:sp>
      <p:sp>
        <p:nvSpPr>
          <p:cNvPr id="22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91840" y="2880360"/>
            <a:ext cx="2560320" cy="1234440"/>
          </a:xfrm>
          <a:prstGeom prst="rect">
            <a:avLst/>
          </a:prstGeom>
          <a:solidFill>
            <a:srgbClr val="F4F7F9"/>
          </a:solidFill>
          <a:ln w="12700">
            <a:solidFill>
              <a:srgbClr val="E2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91840" y="2880360"/>
            <a:ext cx="54864" cy="1234440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529584" y="304495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F1B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Interaction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3529584" y="344728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Input, output format, agent-to-agent.</a:t>
            </a:r>
            <a:endParaRPr lang="en-US" sz="1050" dirty="0"/>
          </a:p>
        </p:txBody>
      </p:sp>
      <p:sp>
        <p:nvSpPr>
          <p:cNvPr id="26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80760" y="2880360"/>
            <a:ext cx="2560320" cy="1234440"/>
          </a:xfrm>
          <a:prstGeom prst="rect">
            <a:avLst/>
          </a:prstGeom>
          <a:solidFill>
            <a:srgbClr val="F4F7F9"/>
          </a:solidFill>
          <a:ln w="12700">
            <a:solidFill>
              <a:srgbClr val="E2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80760" y="2880360"/>
            <a:ext cx="54864" cy="1234440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318504" y="304495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F1B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code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318504" y="344728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+ context + TOOLS + a schema.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0292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AI Nanodegree — Udacity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229600" y="47091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B6B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A60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LESSON 2 · AGENT TYPES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F1B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Four agent types, one spectrum</a:t>
            </a:r>
            <a:endParaRPr lang="en-US" sz="2600" dirty="0"/>
          </a:p>
        </p:txBody>
      </p:sp>
      <p:sp>
        <p:nvSpPr>
          <p:cNvPr id="5" name="Title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207008"/>
            <a:ext cx="640080" cy="41148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tep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17320"/>
            <a:ext cx="1874520" cy="1325880"/>
          </a:xfrm>
          <a:prstGeom prst="rect">
            <a:avLst/>
          </a:prstGeom>
          <a:solidFill>
            <a:srgbClr val="F4F7F9"/>
          </a:solidFill>
          <a:ln w="12700">
            <a:solidFill>
              <a:srgbClr val="E2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te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17320"/>
            <a:ext cx="1874520" cy="54864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67512" y="1572768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B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Direct prompting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67512" y="2103120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Pass the prompt through. One-step tasks.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377440" y="1920240"/>
            <a:ext cx="210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A60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Step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87752" y="1417320"/>
            <a:ext cx="1874520" cy="1325880"/>
          </a:xfrm>
          <a:prstGeom prst="rect">
            <a:avLst/>
          </a:prstGeom>
          <a:solidFill>
            <a:srgbClr val="F4F7F9"/>
          </a:solidFill>
          <a:ln w="12700">
            <a:solidFill>
              <a:srgbClr val="E2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te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87752" y="1417320"/>
            <a:ext cx="1874520" cy="54864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52344" y="1572768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B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 augmentation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52344" y="2103120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 persona, examples, documents first.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462272" y="1920240"/>
            <a:ext cx="210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A60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tep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2584" y="1417320"/>
            <a:ext cx="1874520" cy="1325880"/>
          </a:xfrm>
          <a:prstGeom prst="rect">
            <a:avLst/>
          </a:prstGeom>
          <a:solidFill>
            <a:srgbClr val="F4F7F9"/>
          </a:solidFill>
          <a:ln w="12700">
            <a:solidFill>
              <a:srgbClr val="E2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te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2584" y="1417320"/>
            <a:ext cx="1874520" cy="54864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37176" y="1572768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B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Dynamic context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37176" y="2103120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Tools and memory update context mid-run.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547104" y="1920240"/>
            <a:ext cx="210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A60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Step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57416" y="1417320"/>
            <a:ext cx="1874520" cy="1325880"/>
          </a:xfrm>
          <a:prstGeom prst="rect">
            <a:avLst/>
          </a:prstGeom>
          <a:solidFill>
            <a:srgbClr val="F4F7F9"/>
          </a:solidFill>
          <a:ln w="12700">
            <a:solidFill>
              <a:srgbClr val="E2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te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57416" y="1417320"/>
            <a:ext cx="1874520" cy="54864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922008" y="1572768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B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Autonomous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922008" y="2103120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Plans, executes, self-corrects on its own.</a:t>
            </a:r>
            <a:endParaRPr lang="en-US" sz="950" dirty="0"/>
          </a:p>
        </p:txBody>
      </p:sp>
      <p:sp>
        <p:nvSpPr>
          <p:cNvPr id="25" name="Code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971800"/>
            <a:ext cx="8138160" cy="1051560"/>
          </a:xfrm>
          <a:prstGeom prst="rect">
            <a:avLst/>
          </a:prstGeom>
          <a:solidFill>
            <a:srgbClr val="0B2A3A"/>
          </a:solidFill>
          <a:ln w="12700">
            <a:solidFill>
              <a:srgbClr val="1D54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04088" y="3072384"/>
            <a:ext cx="7735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02B3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 AUGMENTATION IS JUST THIS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04088" y="3319272"/>
            <a:ext cx="77724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02B3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ask(user_q):</a:t>
            </a: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FAE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context = retrieve(user_q)          # docs, memory, tool output</a:t>
            </a: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llm(SYSTEM_PERSONA + context + user_q)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292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AI Nanodegree — Udacity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229600" y="47091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B6B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A60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LESSON 3 · MODELING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F1B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fixed script to planned run</a:t>
            </a:r>
            <a:endParaRPr lang="en-US" sz="2600" dirty="0"/>
          </a:p>
        </p:txBody>
      </p:sp>
      <p:sp>
        <p:nvSpPr>
          <p:cNvPr id="5" name="Title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207008"/>
            <a:ext cx="640080" cy="41148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Code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17320"/>
            <a:ext cx="3977640" cy="1691640"/>
          </a:xfrm>
          <a:prstGeom prst="rect">
            <a:avLst/>
          </a:prstGeom>
          <a:solidFill>
            <a:srgbClr val="0B2A3A"/>
          </a:solidFill>
          <a:ln w="12700">
            <a:solidFill>
              <a:srgbClr val="1D54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04088" y="1517904"/>
            <a:ext cx="3575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02B3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DETERMINISTIC — YOU FIX THE ORDER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04088" y="1764792"/>
            <a:ext cx="361188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02B3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run(request):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 = step_one(request)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 = step_two(a)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02B3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step_three(b)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8FAE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same three steps, every time</a:t>
            </a:r>
            <a:endParaRPr lang="en-US" sz="950" dirty="0"/>
          </a:p>
        </p:txBody>
      </p:sp>
      <p:sp>
        <p:nvSpPr>
          <p:cNvPr id="9" name="Code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1417320"/>
            <a:ext cx="3977640" cy="1691640"/>
          </a:xfrm>
          <a:prstGeom prst="rect">
            <a:avLst/>
          </a:prstGeom>
          <a:solidFill>
            <a:srgbClr val="0B2A3A"/>
          </a:solidFill>
          <a:ln w="12700">
            <a:solidFill>
              <a:srgbClr val="1D54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64608" y="1517904"/>
            <a:ext cx="3575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02B3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— THE PLANNER DECIDES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864608" y="1764792"/>
            <a:ext cx="361188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02B3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run(request):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8FAE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plan = planner(request)   # list of steps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out = request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02B3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step in plan: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out = AGENTS[step](out)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02B3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out</a:t>
            </a:r>
            <a:endParaRPr lang="en-US" sz="950" dirty="0"/>
          </a:p>
        </p:txBody>
      </p:sp>
      <p:sp>
        <p:nvSpPr>
          <p:cNvPr id="12" name="Note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337560"/>
            <a:ext cx="8138160" cy="914400"/>
          </a:xfrm>
          <a:prstGeom prst="rect">
            <a:avLst/>
          </a:prstGeom>
          <a:solidFill>
            <a:srgbClr val="F4F7F9"/>
          </a:solidFill>
          <a:ln w="12700">
            <a:solidFill>
              <a:srgbClr val="E2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Panel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337560"/>
            <a:ext cx="54864" cy="914400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58952" y="3474720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0A60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LEAP IS GENERALISATION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58952" y="37490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 by automating one documented process, then add a planner and a toolset so it serves many.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AI Nanodegree — Udacity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229600" y="47091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B6B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A60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PATTERN 1 · PROMPT CHAINING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F1B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Chaining: validate before you pass it on</a:t>
            </a:r>
            <a:endParaRPr lang="en-US" sz="2600" dirty="0"/>
          </a:p>
        </p:txBody>
      </p:sp>
      <p:sp>
        <p:nvSpPr>
          <p:cNvPr id="5" name="Title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207008"/>
            <a:ext cx="640080" cy="41148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Code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17320"/>
            <a:ext cx="5257800" cy="2926080"/>
          </a:xfrm>
          <a:prstGeom prst="rect">
            <a:avLst/>
          </a:prstGeom>
          <a:solidFill>
            <a:srgbClr val="0B2A3A"/>
          </a:solidFill>
          <a:ln w="12700">
            <a:solidFill>
              <a:srgbClr val="1D54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04088" y="1517904"/>
            <a:ext cx="4855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02B3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 · CHAIN WITH A QUALITY GATE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04088" y="1764792"/>
            <a:ext cx="4892040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02B3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gate(out):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8FAE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json.loads(out)          # programmatic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llm(f"Accurate? OK/why:\n{out}")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llm(EXTRACT, doc)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02B3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attempt in range(3):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verdict = gate(data)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02B3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verdict.startswith("OK"):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02B3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break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 = llm(f"Fix this:\n{verdict}\n{data}")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02B3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8FAE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 = SAFE_DEFAULT        # fallback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 = llm(WRITE, data)</a:t>
            </a:r>
            <a:endParaRPr lang="en-US" sz="950" dirty="0"/>
          </a:p>
        </p:txBody>
      </p:sp>
      <p:sp>
        <p:nvSpPr>
          <p:cNvPr id="9" name="Note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89320" y="1417320"/>
            <a:ext cx="2651760" cy="2926080"/>
          </a:xfrm>
          <a:prstGeom prst="rect">
            <a:avLst/>
          </a:prstGeom>
          <a:solidFill>
            <a:srgbClr val="F4F7F9"/>
          </a:solidFill>
          <a:ln w="12700">
            <a:solidFill>
              <a:srgbClr val="E2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Panel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89320" y="1417320"/>
            <a:ext cx="54864" cy="2926080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45352" y="155448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0A60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WHEN THE GATE FAILS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245352" y="1828800"/>
            <a:ext cx="2194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Retry — for a transient blip</a:t>
            </a:r>
            <a:endParaRPr lang="en-US" sz="1050" dirty="0"/>
          </a:p>
          <a:p>
            <a:pPr marL="0" indent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Re-prompt with the critique attached</a:t>
            </a:r>
            <a:endParaRPr lang="en-US" sz="1050" dirty="0"/>
          </a:p>
          <a:p>
            <a:pPr marL="0" indent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Fall back to a safe output</a:t>
            </a:r>
            <a:endParaRPr lang="en-US" sz="1050" dirty="0"/>
          </a:p>
          <a:p>
            <a:pPr marL="0" indent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 every input, output and verdict</a:t>
            </a:r>
            <a:endParaRPr lang="en-US" sz="1050" dirty="0"/>
          </a:p>
          <a:p>
            <a:pPr marL="0" indent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Pass only the context the step needs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AI Nanodegree — Udacity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229600" y="47091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B6B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A60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PATTERN 2 · ROUTING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F1B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Routing: classify, then dispatch</a:t>
            </a:r>
            <a:endParaRPr lang="en-US" sz="2600" dirty="0"/>
          </a:p>
        </p:txBody>
      </p:sp>
      <p:sp>
        <p:nvSpPr>
          <p:cNvPr id="5" name="Title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207008"/>
            <a:ext cx="640080" cy="41148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Code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17320"/>
            <a:ext cx="4937760" cy="2834640"/>
          </a:xfrm>
          <a:prstGeom prst="rect">
            <a:avLst/>
          </a:prstGeom>
          <a:solidFill>
            <a:srgbClr val="0B2A3A"/>
          </a:solidFill>
          <a:ln w="12700">
            <a:solidFill>
              <a:srgbClr val="1D54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04088" y="1517904"/>
            <a:ext cx="4535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02B3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 · CLASSIFY + DISPATCH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04088" y="1764792"/>
            <a:ext cx="4572000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02B3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ROUTES = {</a:t>
            </a: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"billing":  billing_agent,</a:t>
            </a: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"tech":     support_agent,</a:t>
            </a: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"sales":    sales_agent,</a:t>
            </a: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 = llm(</a:t>
            </a: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"Reply with one word - billing, tech"</a:t>
            </a: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f" or sales:\n{query}").strip()</a:t>
            </a: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= ROUTES.get(label, fallback_agent)</a:t>
            </a: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answer = agent(query)</a:t>
            </a:r>
            <a:endParaRPr lang="en-US" sz="1000" dirty="0"/>
          </a:p>
        </p:txBody>
      </p:sp>
      <p:pic>
        <p:nvPicPr>
          <p:cNvPr id="9" name="Image 0" descr="Illustration: one incoming line branching at a decision node into three separate paths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15000" y="1463040"/>
            <a:ext cx="2926080" cy="1965960"/>
          </a:xfrm>
          <a:prstGeom prst="rect">
            <a:avLst/>
          </a:prstGeom>
        </p:spPr>
      </p:pic>
      <p:sp>
        <p:nvSpPr>
          <p:cNvPr id="10" name="Caption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15000" y="3611880"/>
            <a:ext cx="2926080" cy="640080"/>
          </a:xfrm>
          <a:prstGeom prst="rect">
            <a:avLst/>
          </a:prstGeom>
          <a:solidFill>
            <a:srgbClr val="F4F7F9"/>
          </a:solidFill>
          <a:ln w="12700">
            <a:solidFill>
              <a:srgbClr val="E2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943600" y="37490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B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Cheap model for easy routes, strong one for hard.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0292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AI Nanodegree — Udacity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229600" y="47091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B6B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A60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PATTERN 3 · PARALLELIZATION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F1B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Parallelization: scatter, then gather</a:t>
            </a:r>
            <a:endParaRPr lang="en-US" sz="2600" dirty="0"/>
          </a:p>
        </p:txBody>
      </p:sp>
      <p:sp>
        <p:nvSpPr>
          <p:cNvPr id="5" name="Title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207008"/>
            <a:ext cx="640080" cy="41148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Code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17320"/>
            <a:ext cx="4937760" cy="2834640"/>
          </a:xfrm>
          <a:prstGeom prst="rect">
            <a:avLst/>
          </a:prstGeom>
          <a:solidFill>
            <a:srgbClr val="0B2A3A"/>
          </a:solidFill>
          <a:ln w="12700">
            <a:solidFill>
              <a:srgbClr val="1D54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04088" y="1517904"/>
            <a:ext cx="4535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02B3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 · SCATTER-GATHER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04088" y="1764792"/>
            <a:ext cx="4572000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02B3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concurrent.futures import ThreadPoolExecutor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8FAE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chunks = split(document)     # independent!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02B3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ThreadPoolExecutor() as pool: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parts = list(pool.map(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lambda c: llm(SUMMARISE, c), chunks))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summary = llm(SYNTHESISE, "\n".join(parts))</a:t>
            </a:r>
            <a:endParaRPr lang="en-US" sz="950" dirty="0"/>
          </a:p>
        </p:txBody>
      </p:sp>
      <p:pic>
        <p:nvPicPr>
          <p:cNvPr id="9" name="Image 0" descr="Illustration: one node fanning out into four parallel nodes that converge back into on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15000" y="1463040"/>
            <a:ext cx="2926080" cy="1965960"/>
          </a:xfrm>
          <a:prstGeom prst="rect">
            <a:avLst/>
          </a:prstGeom>
        </p:spPr>
      </p:pic>
      <p:sp>
        <p:nvSpPr>
          <p:cNvPr id="10" name="Caption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15000" y="3611880"/>
            <a:ext cx="2926080" cy="640080"/>
          </a:xfrm>
          <a:prstGeom prst="rect">
            <a:avLst/>
          </a:prstGeom>
          <a:solidFill>
            <a:srgbClr val="F4F7F9"/>
          </a:solidFill>
          <a:ln w="12700">
            <a:solidFill>
              <a:srgbClr val="E2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943600" y="37490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B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Only parallelise genuinely independent subtasks.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0292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AI Nanodegree — Udacity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229600" y="47091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B6B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A60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PATTERN 4 · EVALUATOR–OPTIMIZER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F1B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Evaluator–Optimizer: generate, critique, refine</a:t>
            </a:r>
            <a:endParaRPr lang="en-US" sz="2600" dirty="0"/>
          </a:p>
        </p:txBody>
      </p:sp>
      <p:sp>
        <p:nvSpPr>
          <p:cNvPr id="5" name="Title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207008"/>
            <a:ext cx="640080" cy="41148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Code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17320"/>
            <a:ext cx="4937760" cy="2834640"/>
          </a:xfrm>
          <a:prstGeom prst="rect">
            <a:avLst/>
          </a:prstGeom>
          <a:solidFill>
            <a:srgbClr val="0B2A3A"/>
          </a:solidFill>
          <a:ln w="12700">
            <a:solidFill>
              <a:srgbClr val="1D54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04088" y="1517904"/>
            <a:ext cx="4535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02B3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 · TWO ROLES, ONE LOOP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04088" y="1764792"/>
            <a:ext cx="4572000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7FD1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CRITERIA = "Factual, under 300 words, cites data."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draft = llm(OPTIMIZER, task)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02B3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range(MAX_ROUNDS):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fb = llm(EVALUATOR,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f"{CRITERIA}\n{draft}")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02B3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fb.startswith("PASS"):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02B3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break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draft = llm(OPTIMIZER,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f"{task}\n{draft}\nFix: {fb}")</a:t>
            </a:r>
            <a:endParaRPr lang="en-US" sz="950" dirty="0"/>
          </a:p>
        </p:txBody>
      </p:sp>
      <p:pic>
        <p:nvPicPr>
          <p:cNvPr id="9" name="Image 0" descr="Illustration: two nodes connected by curved arrows forming a feedback cycl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15000" y="1463040"/>
            <a:ext cx="2926080" cy="1965960"/>
          </a:xfrm>
          <a:prstGeom prst="rect">
            <a:avLst/>
          </a:prstGeom>
        </p:spPr>
      </p:pic>
      <p:sp>
        <p:nvSpPr>
          <p:cNvPr id="10" name="Caption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15000" y="3611880"/>
            <a:ext cx="2926080" cy="640080"/>
          </a:xfrm>
          <a:prstGeom prst="rect">
            <a:avLst/>
          </a:prstGeom>
          <a:solidFill>
            <a:srgbClr val="F4F7F9"/>
          </a:solidFill>
          <a:ln w="12700">
            <a:solidFill>
              <a:srgbClr val="E2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943600" y="37490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B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Criteria, actionable feedback, a stopping condition.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0292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AI Nanodegree — Udacity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229600" y="47091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B6B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A60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PATTERN 5 · ORCHESTRATOR–WORKERS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F1B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Orchestrator–Workers: delegate, then synthesise</a:t>
            </a:r>
            <a:endParaRPr lang="en-US" sz="2600" dirty="0"/>
          </a:p>
        </p:txBody>
      </p:sp>
      <p:sp>
        <p:nvSpPr>
          <p:cNvPr id="5" name="Title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207008"/>
            <a:ext cx="640080" cy="41148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Code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17320"/>
            <a:ext cx="4937760" cy="2834640"/>
          </a:xfrm>
          <a:prstGeom prst="rect">
            <a:avLst/>
          </a:prstGeom>
          <a:solidFill>
            <a:srgbClr val="0B2A3A"/>
          </a:solidFill>
          <a:ln w="12700">
            <a:solidFill>
              <a:srgbClr val="1D54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04088" y="1517904"/>
            <a:ext cx="4535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02B3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 · EV MARKET REPORT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04088" y="1764792"/>
            <a:ext cx="4572000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02B3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WORKERS = {"research": web_worker,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"analysis": data_worker,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"trends":   trend_worker}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8FAE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 orchestrator picks tasks at runtime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 = json.loads(llm(ORCHESTRATOR, goal))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 = [WORKERS[t["worker"]](t["task"])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02B3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for t in plan]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 = llm(SYNTHESISE, results)</a:t>
            </a:r>
            <a:endParaRPr lang="en-US" sz="950" dirty="0"/>
          </a:p>
        </p:txBody>
      </p:sp>
      <p:pic>
        <p:nvPicPr>
          <p:cNvPr id="9" name="Image 0" descr="Illustration: a central hub node connected by spokes to three specialist worker nodes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15000" y="1463040"/>
            <a:ext cx="2926080" cy="1965960"/>
          </a:xfrm>
          <a:prstGeom prst="rect">
            <a:avLst/>
          </a:prstGeom>
        </p:spPr>
      </p:pic>
      <p:sp>
        <p:nvSpPr>
          <p:cNvPr id="10" name="Caption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15000" y="3611880"/>
            <a:ext cx="2926080" cy="640080"/>
          </a:xfrm>
          <a:prstGeom prst="rect">
            <a:avLst/>
          </a:prstGeom>
          <a:solidFill>
            <a:srgbClr val="F4F7F9"/>
          </a:solidFill>
          <a:ln w="12700">
            <a:solidFill>
              <a:srgbClr val="E2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943600" y="37033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B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Parallel splits a known job. This one writes the plan.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0292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AI Nanodegree — Udacity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229600" y="47091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B6B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B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2B3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COURSE 2 · RECAP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Five patterns, one decision</a:t>
            </a:r>
            <a:endParaRPr lang="en-US" sz="2600" dirty="0"/>
          </a:p>
        </p:txBody>
      </p:sp>
      <p:sp>
        <p:nvSpPr>
          <p:cNvPr id="5" name="Number bulle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627632"/>
            <a:ext cx="256032" cy="256032"/>
          </a:xfrm>
          <a:prstGeom prst="ellipse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60120" y="1591056"/>
            <a:ext cx="7635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6E7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Chaining — ordered steps, with a validation gate between them.</a:t>
            </a:r>
            <a:endParaRPr lang="en-US" sz="1300" dirty="0"/>
          </a:p>
        </p:txBody>
      </p:sp>
      <p:sp>
        <p:nvSpPr>
          <p:cNvPr id="8" name="Number bulle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176272"/>
            <a:ext cx="256032" cy="256032"/>
          </a:xfrm>
          <a:prstGeom prst="ellipse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2194560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60120" y="2139696"/>
            <a:ext cx="7635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6E7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Routing — classify first, then dispatch to the specialist.</a:t>
            </a:r>
            <a:endParaRPr lang="en-US" sz="1300" dirty="0"/>
          </a:p>
        </p:txBody>
      </p:sp>
      <p:sp>
        <p:nvSpPr>
          <p:cNvPr id="11" name="Number bulle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724912"/>
            <a:ext cx="256032" cy="256032"/>
          </a:xfrm>
          <a:prstGeom prst="ellipse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2743200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60120" y="2688336"/>
            <a:ext cx="7635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6E7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Parallelization — scatter independent subtasks, gather the results.</a:t>
            </a:r>
            <a:endParaRPr lang="en-US" sz="1300" dirty="0"/>
          </a:p>
        </p:txBody>
      </p:sp>
      <p:sp>
        <p:nvSpPr>
          <p:cNvPr id="14" name="Number bulle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273552"/>
            <a:ext cx="256032" cy="256032"/>
          </a:xfrm>
          <a:prstGeom prst="ellipse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3291840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60120" y="3236976"/>
            <a:ext cx="7635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6E7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Evaluator–Optimizer — critique against criteria until it passes.</a:t>
            </a:r>
            <a:endParaRPr lang="en-US" sz="1300" dirty="0"/>
          </a:p>
        </p:txBody>
      </p:sp>
      <p:sp>
        <p:nvSpPr>
          <p:cNvPr id="17" name="Number bulle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822192"/>
            <a:ext cx="256032" cy="256032"/>
          </a:xfrm>
          <a:prstGeom prst="ellipse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3840480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60120" y="3785616"/>
            <a:ext cx="7635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6E7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Orchestrator–Workers — the plan itself is decided at runtime.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4343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FC4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the simplest pattern that works — every layer of autonomy costs latency, tokens and predictability.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0292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A6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AI Nanodegree — Udacity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229600" y="47091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7FA6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B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B3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</a:t>
            </a:r>
            <a:r>
              <a:rPr lang="en-US" sz="1100" b="1" kern="0" spc="200">
                <a:solidFill>
                  <a:srgbClr val="02B3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7373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BUILDING AGENTS</a:t>
            </a:r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Course 3, in code </a:t>
            </a:r>
            <a:endParaRPr lang="en-US" sz="3200" dirty="0"/>
          </a:p>
        </p:txBody>
      </p:sp>
      <p:sp>
        <p:nvSpPr>
          <p:cNvPr id="5" name="Text 3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685800" y="265176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DDE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Giving the agent hands and a memory — tools, structured output, state, APIs, retrieval and evaluation.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A6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AI Nanodegree — Udacity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0" y="47091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7FA6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A60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LESSON 1 · TOOLS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F1B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Function calling: the model asks, you run it</a:t>
            </a:r>
            <a:endParaRPr lang="en-US" sz="2600" dirty="0"/>
          </a:p>
        </p:txBody>
      </p:sp>
      <p:sp>
        <p:nvSpPr>
          <p:cNvPr id="5" name="Title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207008"/>
            <a:ext cx="640080" cy="41148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Code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17320"/>
            <a:ext cx="4937760" cy="2834640"/>
          </a:xfrm>
          <a:prstGeom prst="rect">
            <a:avLst/>
          </a:prstGeom>
          <a:solidFill>
            <a:srgbClr val="0B2A3A"/>
          </a:solidFill>
          <a:ln w="12700">
            <a:solidFill>
              <a:srgbClr val="1D54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04088" y="1517904"/>
            <a:ext cx="4535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02B3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 · ONE TOOL ROUND TRIP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04088" y="1764792"/>
            <a:ext cx="4572000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02B3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 = [{"type": "function", "function": {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"name": "get_weather",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"parameters": {"type": "object",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"properties": {"city": {"type": "string"}},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"required": ["city"]}}}]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msg = client.chat(messages, tools=TOOLS)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02B3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c in msg.tool_calls: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out = get_weather(**json.loads(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c.function.arguments))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messages.append({"role": "tool",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"tool_call_id": c.id, "content": out})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8FAE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 = client.chat(messages)   # now it answers</a:t>
            </a:r>
            <a:endParaRPr lang="en-US" sz="950" dirty="0"/>
          </a:p>
        </p:txBody>
      </p:sp>
      <p:pic>
        <p:nvPicPr>
          <p:cNvPr id="9" name="Image 0" descr="Illustration: a central node sending a structured request to an external tool node and receiving a reply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15000" y="1463040"/>
            <a:ext cx="2926080" cy="1965960"/>
          </a:xfrm>
          <a:prstGeom prst="rect">
            <a:avLst/>
          </a:prstGeom>
        </p:spPr>
      </p:pic>
      <p:sp>
        <p:nvSpPr>
          <p:cNvPr id="10" name="Caption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15000" y="3611880"/>
            <a:ext cx="2926080" cy="640080"/>
          </a:xfrm>
          <a:prstGeom prst="rect">
            <a:avLst/>
          </a:prstGeom>
          <a:solidFill>
            <a:srgbClr val="F4F7F9"/>
          </a:solidFill>
          <a:ln w="12700">
            <a:solidFill>
              <a:srgbClr val="E2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943600" y="37033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B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model only names the call. Your code executes it.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0292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AI Nanodegree — Udacity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229600" y="47091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B6B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A60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LESSON 1 · TOOL BINDING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F1B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decorator turns a function into a tool</a:t>
            </a:r>
            <a:endParaRPr lang="en-US" sz="2600" dirty="0"/>
          </a:p>
        </p:txBody>
      </p:sp>
      <p:sp>
        <p:nvSpPr>
          <p:cNvPr id="5" name="Title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207008"/>
            <a:ext cx="640080" cy="41148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Code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17320"/>
            <a:ext cx="5257800" cy="2926080"/>
          </a:xfrm>
          <a:prstGeom prst="rect">
            <a:avLst/>
          </a:prstGeom>
          <a:solidFill>
            <a:srgbClr val="0B2A3A"/>
          </a:solidFill>
          <a:ln w="12700">
            <a:solidFill>
              <a:srgbClr val="1D54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04088" y="1517904"/>
            <a:ext cx="4855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02B3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 · DECLARE ONCE, BIND ONCE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04088" y="1764792"/>
            <a:ext cx="4892040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02B3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@tool</a:t>
            </a: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02B3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get_stock(ticker: str) -&gt; float:</a:t>
            </a: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7FD1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"""Return the latest price for a ticker."""</a:t>
            </a: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api.quote(ticker)["price"]</a:t>
            </a: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FAE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name, docstring and type hints become</a:t>
            </a: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FAE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 JSON schema the model sees</a:t>
            </a: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= LLM(model="gpt-4o",</a:t>
            </a: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tools=[get_stock, search_web])</a:t>
            </a: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agent.invoke("Is NVDA up today?")</a:t>
            </a:r>
            <a:endParaRPr lang="en-US" sz="1000" dirty="0"/>
          </a:p>
        </p:txBody>
      </p:sp>
      <p:sp>
        <p:nvSpPr>
          <p:cNvPr id="9" name="Note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89320" y="1417320"/>
            <a:ext cx="2651760" cy="2926080"/>
          </a:xfrm>
          <a:prstGeom prst="rect">
            <a:avLst/>
          </a:prstGeom>
          <a:solidFill>
            <a:srgbClr val="F4F7F9"/>
          </a:solidFill>
          <a:ln w="12700">
            <a:solidFill>
              <a:srgbClr val="E2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Panel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89320" y="1417320"/>
            <a:ext cx="54864" cy="2926080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45352" y="155448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0A60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MAKES A TOOL USABLE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245352" y="1828800"/>
            <a:ext cx="2194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verb-shaped, unambiguous name</a:t>
            </a:r>
            <a:endParaRPr lang="en-US" sz="1050" dirty="0"/>
          </a:p>
          <a:p>
            <a:pPr marL="0" indent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docstring that says when to use it</a:t>
            </a:r>
            <a:endParaRPr lang="en-US" sz="1050" dirty="0"/>
          </a:p>
          <a:p>
            <a:pPr marL="0" indent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Typed arguments — the schema</a:t>
            </a:r>
            <a:endParaRPr lang="en-US" sz="1050" dirty="0"/>
          </a:p>
          <a:p>
            <a:pPr marL="0" indent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Few tools beat many similar ones</a:t>
            </a:r>
            <a:endParaRPr lang="en-US" sz="1050" dirty="0"/>
          </a:p>
          <a:p>
            <a:pPr marL="0" indent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Return text the model can read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AI Nanodegree — Udacity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229600" y="47091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B6B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A60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LESSON 2 · STRUCTURED OUTPUT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F1B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Stop parsing prose — demand a schema</a:t>
            </a:r>
            <a:endParaRPr lang="en-US" sz="2600" dirty="0"/>
          </a:p>
        </p:txBody>
      </p:sp>
      <p:sp>
        <p:nvSpPr>
          <p:cNvPr id="5" name="Title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207008"/>
            <a:ext cx="640080" cy="41148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Code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17320"/>
            <a:ext cx="5257800" cy="2560320"/>
          </a:xfrm>
          <a:prstGeom prst="rect">
            <a:avLst/>
          </a:prstGeom>
          <a:solidFill>
            <a:srgbClr val="0B2A3A"/>
          </a:solidFill>
          <a:ln w="12700">
            <a:solidFill>
              <a:srgbClr val="1D54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04088" y="1517904"/>
            <a:ext cx="4855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02B3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 · PYDANTIC AS THE CONTRACT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04088" y="1764792"/>
            <a:ext cx="4892040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02B3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CalendarEvent(BaseModel):</a:t>
            </a: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title: str</a:t>
            </a: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date:  datetime.date</a:t>
            </a: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attendees: list[str]</a:t>
            </a: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 = client.parse(</a:t>
            </a: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messages=[{"role": "user",</a:t>
            </a: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"content": email_text}],</a:t>
            </a: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response_format=CalendarEvent)</a:t>
            </a: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FAE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event.date          # a real date object</a:t>
            </a: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calendar.create(**event.model_dump())</a:t>
            </a:r>
            <a:endParaRPr lang="en-US" sz="1000" dirty="0"/>
          </a:p>
        </p:txBody>
      </p:sp>
      <p:sp>
        <p:nvSpPr>
          <p:cNvPr id="9" name="Note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89320" y="1417320"/>
            <a:ext cx="2651760" cy="2560320"/>
          </a:xfrm>
          <a:prstGeom prst="rect">
            <a:avLst/>
          </a:prstGeom>
          <a:solidFill>
            <a:srgbClr val="F4F7F9"/>
          </a:solidFill>
          <a:ln w="12700">
            <a:solidFill>
              <a:srgbClr val="E2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Panel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89320" y="1417320"/>
            <a:ext cx="54864" cy="2560320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45352" y="155448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0A60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PICK YOUR PARSER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245352" y="182880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 — plain text, no structure</a:t>
            </a:r>
            <a:endParaRPr lang="en-US" sz="1050" dirty="0"/>
          </a:p>
          <a:p>
            <a:pPr marL="0" indent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Json — dict, no guarantees</a:t>
            </a:r>
            <a:endParaRPr lang="en-US" sz="1050" dirty="0"/>
          </a:p>
          <a:p>
            <a:pPr marL="0" indent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Pydantic — typed and validated</a:t>
            </a:r>
            <a:endParaRPr lang="en-US" sz="1050" dirty="0"/>
          </a:p>
          <a:p>
            <a:pPr marL="0" indent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 output — straight into a call</a:t>
            </a:r>
            <a:endParaRPr lang="en-US" sz="1050" dirty="0"/>
          </a:p>
          <a:p>
            <a:pPr marL="0" indent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Validation failure = retry signal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AI Nanodegree — Udacity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229600" y="47091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B6B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A60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LESSON 3 · AGENT STATE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F1B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State is just a dict you pass along</a:t>
            </a:r>
            <a:endParaRPr lang="en-US" sz="2600" dirty="0"/>
          </a:p>
        </p:txBody>
      </p:sp>
      <p:sp>
        <p:nvSpPr>
          <p:cNvPr id="5" name="Title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207008"/>
            <a:ext cx="640080" cy="41148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Code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17320"/>
            <a:ext cx="3977640" cy="2834640"/>
          </a:xfrm>
          <a:prstGeom prst="rect">
            <a:avLst/>
          </a:prstGeom>
          <a:solidFill>
            <a:srgbClr val="0B2A3A"/>
          </a:solidFill>
          <a:ln w="12700">
            <a:solidFill>
              <a:srgbClr val="1D54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04088" y="1517904"/>
            <a:ext cx="3575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02B3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 · TYPED STATE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04088" y="1764792"/>
            <a:ext cx="3611880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02B3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State(TypedDict):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question: str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documents: list[str]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answer: str | None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attempts: int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02B3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retrieve(state: State) -&gt; State: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docs = store.search(state["question"])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{"documents": docs}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8FAE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each step returns only what it changed</a:t>
            </a:r>
            <a:endParaRPr lang="en-US" sz="950" dirty="0"/>
          </a:p>
        </p:txBody>
      </p:sp>
      <p:sp>
        <p:nvSpPr>
          <p:cNvPr id="9" name="Code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1417320"/>
            <a:ext cx="3977640" cy="2834640"/>
          </a:xfrm>
          <a:prstGeom prst="rect">
            <a:avLst/>
          </a:prstGeom>
          <a:solidFill>
            <a:srgbClr val="0B2A3A"/>
          </a:solidFill>
          <a:ln w="12700">
            <a:solidFill>
              <a:srgbClr val="1D54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64608" y="1517904"/>
            <a:ext cx="3575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02B3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 · WIRE THE MACHINE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864608" y="1764792"/>
            <a:ext cx="3611880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02B3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= StateMachine(State)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m.add(EntryPoint(), retrieve, generate,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reflect, Termination())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02B3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router(state):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02B3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state["answer"]: return "end"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02B3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state["attempts"] &lt; 3: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02B3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"retrieve"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02B3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"end"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m.add_conditional(reflect, router)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m.run({"question": q, "attempts": 0})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AI Nanodegree — Udacity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229600" y="47091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B6B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A60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LESSON 3 · CONTROL FLOW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F1B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a state machine beats a while-loop</a:t>
            </a:r>
            <a:endParaRPr lang="en-US" sz="2600" dirty="0"/>
          </a:p>
        </p:txBody>
      </p:sp>
      <p:sp>
        <p:nvSpPr>
          <p:cNvPr id="5" name="Title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207008"/>
            <a:ext cx="640080" cy="41148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17320"/>
            <a:ext cx="2560320" cy="1234440"/>
          </a:xfrm>
          <a:prstGeom prst="rect">
            <a:avLst/>
          </a:prstGeom>
          <a:solidFill>
            <a:srgbClr val="F4F7F9"/>
          </a:solidFill>
          <a:ln w="12700">
            <a:solidFill>
              <a:srgbClr val="E2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17320"/>
            <a:ext cx="54864" cy="1234440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40664" y="158191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F1B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step is testable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40664" y="198424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State in, state out — pure functions.</a:t>
            </a:r>
            <a:endParaRPr lang="en-US" sz="1050" dirty="0"/>
          </a:p>
        </p:txBody>
      </p:sp>
      <p:sp>
        <p:nvSpPr>
          <p:cNvPr id="10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91840" y="1417320"/>
            <a:ext cx="2560320" cy="1234440"/>
          </a:xfrm>
          <a:prstGeom prst="rect">
            <a:avLst/>
          </a:prstGeom>
          <a:solidFill>
            <a:srgbClr val="F4F7F9"/>
          </a:solidFill>
          <a:ln w="12700">
            <a:solidFill>
              <a:srgbClr val="E2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91840" y="1417320"/>
            <a:ext cx="54864" cy="1234440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529584" y="158191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F1B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Transitions are explicit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529584" y="198424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router is the only branching point.</a:t>
            </a:r>
            <a:endParaRPr lang="en-US" sz="1050" dirty="0"/>
          </a:p>
        </p:txBody>
      </p:sp>
      <p:sp>
        <p:nvSpPr>
          <p:cNvPr id="14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80760" y="1417320"/>
            <a:ext cx="2560320" cy="1234440"/>
          </a:xfrm>
          <a:prstGeom prst="rect">
            <a:avLst/>
          </a:prstGeom>
          <a:solidFill>
            <a:srgbClr val="F4F7F9"/>
          </a:solidFill>
          <a:ln w="12700">
            <a:solidFill>
              <a:srgbClr val="E2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80760" y="1417320"/>
            <a:ext cx="54864" cy="1234440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318504" y="158191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F1B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Snapshots per step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318504" y="198424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Replay or resume from any point.</a:t>
            </a:r>
            <a:endParaRPr lang="en-US" sz="1050" dirty="0"/>
          </a:p>
        </p:txBody>
      </p:sp>
      <p:sp>
        <p:nvSpPr>
          <p:cNvPr id="18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880360"/>
            <a:ext cx="2560320" cy="1234440"/>
          </a:xfrm>
          <a:prstGeom prst="rect">
            <a:avLst/>
          </a:prstGeom>
          <a:solidFill>
            <a:srgbClr val="F4F7F9"/>
          </a:solidFill>
          <a:ln w="12700">
            <a:solidFill>
              <a:srgbClr val="E2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880360"/>
            <a:ext cx="54864" cy="1234440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40664" y="304495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F1B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Loops are bounded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40664" y="344728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counter in state caps the retries.</a:t>
            </a:r>
            <a:endParaRPr lang="en-US" sz="1050" dirty="0"/>
          </a:p>
        </p:txBody>
      </p:sp>
      <p:sp>
        <p:nvSpPr>
          <p:cNvPr id="22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91840" y="2880360"/>
            <a:ext cx="2560320" cy="1234440"/>
          </a:xfrm>
          <a:prstGeom prst="rect">
            <a:avLst/>
          </a:prstGeom>
          <a:solidFill>
            <a:srgbClr val="F4F7F9"/>
          </a:solidFill>
          <a:ln w="12700">
            <a:solidFill>
              <a:srgbClr val="E2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91840" y="2880360"/>
            <a:ext cx="54864" cy="1234440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529584" y="304495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F1B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Observable by default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3529584" y="344728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trace is the state history.</a:t>
            </a:r>
            <a:endParaRPr lang="en-US" sz="1050" dirty="0"/>
          </a:p>
        </p:txBody>
      </p:sp>
      <p:sp>
        <p:nvSpPr>
          <p:cNvPr id="26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80760" y="2880360"/>
            <a:ext cx="2560320" cy="1234440"/>
          </a:xfrm>
          <a:prstGeom prst="rect">
            <a:avLst/>
          </a:prstGeom>
          <a:solidFill>
            <a:srgbClr val="F4F7F9"/>
          </a:solidFill>
          <a:ln w="12700">
            <a:solidFill>
              <a:srgbClr val="E2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80760" y="2880360"/>
            <a:ext cx="54864" cy="1234440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318504" y="304495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F1B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Swappable steps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318504" y="344728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Change one node, not the runtime.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0292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AI Nanodegree — Udacity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229600" y="47091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B6B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A60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LESSON 4 · MEMORY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F1B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Short-term memory: what fits in context</a:t>
            </a:r>
            <a:endParaRPr lang="en-US" sz="2600" dirty="0"/>
          </a:p>
        </p:txBody>
      </p:sp>
      <p:sp>
        <p:nvSpPr>
          <p:cNvPr id="5" name="Title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207008"/>
            <a:ext cx="640080" cy="41148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Code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17320"/>
            <a:ext cx="4937760" cy="2834640"/>
          </a:xfrm>
          <a:prstGeom prst="rect">
            <a:avLst/>
          </a:prstGeom>
          <a:solidFill>
            <a:srgbClr val="0B2A3A"/>
          </a:solidFill>
          <a:ln w="12700">
            <a:solidFill>
              <a:srgbClr val="1D54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04088" y="1517904"/>
            <a:ext cx="4535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02B3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 · THREE STRATEGIES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04088" y="1764792"/>
            <a:ext cx="4572000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8FAE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full history - simple, gets expensive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ctx = history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8FAE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sliding window - last N turns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ctx = history[-10:]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8FAE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summarisation - compress the tail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02B3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len(history) &gt; 20: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ctx = [llm(SUMMARISE, history[:-10])]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ctx += history[-10:]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reply = llm(SYSTEM, ctx + [user_msg])</a:t>
            </a:r>
            <a:endParaRPr lang="en-US" sz="950" dirty="0"/>
          </a:p>
        </p:txBody>
      </p:sp>
      <p:pic>
        <p:nvPicPr>
          <p:cNvPr id="9" name="Image 0" descr="Illustration: three stacked concentric layers connected to a single nod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15000" y="1463040"/>
            <a:ext cx="2926080" cy="1965960"/>
          </a:xfrm>
          <a:prstGeom prst="rect">
            <a:avLst/>
          </a:prstGeom>
        </p:spPr>
      </p:pic>
      <p:sp>
        <p:nvSpPr>
          <p:cNvPr id="10" name="Caption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15000" y="3611880"/>
            <a:ext cx="2926080" cy="640080"/>
          </a:xfrm>
          <a:prstGeom prst="rect">
            <a:avLst/>
          </a:prstGeom>
          <a:solidFill>
            <a:srgbClr val="F4F7F9"/>
          </a:solidFill>
          <a:ln w="12700">
            <a:solidFill>
              <a:srgbClr val="E2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943600" y="37033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B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Always pin the system prompt and the last user turn.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0292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AI Nanodegree — Udacity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229600" y="47091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B6B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A60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LESSON 5 · EXTERNAL APIS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F1B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Calling the outside world, safely</a:t>
            </a:r>
            <a:endParaRPr lang="en-US" sz="2600" dirty="0"/>
          </a:p>
        </p:txBody>
      </p:sp>
      <p:sp>
        <p:nvSpPr>
          <p:cNvPr id="5" name="Title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207008"/>
            <a:ext cx="640080" cy="41148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Code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17320"/>
            <a:ext cx="5257800" cy="2788920"/>
          </a:xfrm>
          <a:prstGeom prst="rect">
            <a:avLst/>
          </a:prstGeom>
          <a:solidFill>
            <a:srgbClr val="0B2A3A"/>
          </a:solidFill>
          <a:ln w="12700">
            <a:solidFill>
              <a:srgbClr val="1D54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04088" y="1517904"/>
            <a:ext cx="4855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02B3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 · A TOOL THAT CAN FAIL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04088" y="1764792"/>
            <a:ext cx="4892040" cy="2313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02B3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@tool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02B3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create_ticket(title: str) -&gt; str: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7FD1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"""Open a support ticket."""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 = requests.post(URL, json={"title": title},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headers={"Authorization": f"Bearer {KEY}"},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timeout=10)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02B3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r.status_code == 429: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"Rate limited - try again later."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02B3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r.ok: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f"Failed ({r.status_code})."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f"Ticket {r.json()['id']} created."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8FAE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never raise at the model - return a message</a:t>
            </a:r>
            <a:endParaRPr lang="en-US" sz="950" dirty="0"/>
          </a:p>
        </p:txBody>
      </p:sp>
      <p:sp>
        <p:nvSpPr>
          <p:cNvPr id="9" name="Note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89320" y="1417320"/>
            <a:ext cx="2651760" cy="2788920"/>
          </a:xfrm>
          <a:prstGeom prst="rect">
            <a:avLst/>
          </a:prstGeom>
          <a:solidFill>
            <a:srgbClr val="F4F7F9"/>
          </a:solidFill>
          <a:ln w="12700">
            <a:solidFill>
              <a:srgbClr val="E2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Panel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89320" y="1417320"/>
            <a:ext cx="54864" cy="2788920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45352" y="155448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0A60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AND THEN THERE'S MCP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245352" y="1828800"/>
            <a:ext cx="21945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protocol for every tool server</a:t>
            </a:r>
            <a:endParaRPr lang="en-US" sz="1050" dirty="0"/>
          </a:p>
          <a:p>
            <a:pPr marL="0" indent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USB-C port for agents</a:t>
            </a:r>
            <a:endParaRPr lang="en-US" sz="1050" dirty="0"/>
          </a:p>
          <a:p>
            <a:pPr marL="0" indent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Streamable HTTP replaced SSE</a:t>
            </a:r>
            <a:endParaRPr lang="en-US" sz="1050" dirty="0"/>
          </a:p>
          <a:p>
            <a:pPr marL="0" indent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Write the integration once, reuse it</a:t>
            </a:r>
            <a:endParaRPr lang="en-US" sz="1050" dirty="0"/>
          </a:p>
          <a:p>
            <a:pPr marL="0" indent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Keys in env vars — never in prompts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AI Nanodegree — Udacity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229600" y="47091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B6B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A60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LESSON 6 · DATA ACCESS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F1B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Databases: let it write SQL, not run riot</a:t>
            </a:r>
            <a:endParaRPr lang="en-US" sz="2600" dirty="0"/>
          </a:p>
        </p:txBody>
      </p:sp>
      <p:sp>
        <p:nvSpPr>
          <p:cNvPr id="5" name="Title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207008"/>
            <a:ext cx="640080" cy="41148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Code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17320"/>
            <a:ext cx="5120640" cy="2240280"/>
          </a:xfrm>
          <a:prstGeom prst="rect">
            <a:avLst/>
          </a:prstGeom>
          <a:solidFill>
            <a:srgbClr val="0B2A3A"/>
          </a:solidFill>
          <a:ln w="12700">
            <a:solidFill>
              <a:srgbClr val="1D54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04088" y="1517904"/>
            <a:ext cx="4718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02B3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 · TEXT2SQL WITH GUARDRAILS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04088" y="1764792"/>
            <a:ext cx="4754880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02B3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BANNED = ("DROP", "DELETE", "UPDATE", "INSERT")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 = llm(f"Schema:\n{schema}\nQuery: {q}"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"\nReturn one SELECT statement.")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02B3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any(w in sql.upper() for w in BANNED):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"Read-only access."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rows = db.execute(sql + " LIMIT 100")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02B3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llm(f"Answer {q} from:\n{rows}")</a:t>
            </a:r>
            <a:endParaRPr lang="en-US" sz="950" dirty="0"/>
          </a:p>
        </p:txBody>
      </p:sp>
      <p:sp>
        <p:nvSpPr>
          <p:cNvPr id="9" name="Note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440" y="1417320"/>
            <a:ext cx="2834640" cy="2240280"/>
          </a:xfrm>
          <a:prstGeom prst="rect">
            <a:avLst/>
          </a:prstGeom>
          <a:solidFill>
            <a:srgbClr val="F4F7F9"/>
          </a:solidFill>
          <a:ln w="12700">
            <a:solidFill>
              <a:srgbClr val="E2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Panel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440" y="1417320"/>
            <a:ext cx="54864" cy="2240280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062472" y="155448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0A60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STRUCTURED OR SEMANTIC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062472" y="1828800"/>
            <a:ext cx="2377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 — exact facts, filters, totals</a:t>
            </a:r>
            <a:endParaRPr lang="en-US" sz="1050" dirty="0"/>
          </a:p>
          <a:p>
            <a:pPr marL="0" indent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Vector — meaning, not keywords</a:t>
            </a:r>
            <a:endParaRPr lang="en-US" sz="1050" dirty="0"/>
          </a:p>
          <a:p>
            <a:pPr marL="0" indent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Hybrid — keyword plus embedding</a:t>
            </a:r>
            <a:endParaRPr lang="en-US" sz="1050" dirty="0"/>
          </a:p>
          <a:p>
            <a:pPr marL="0" indent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Give the model the schema, not the data</a:t>
            </a:r>
            <a:endParaRPr lang="en-US" sz="1050" dirty="0"/>
          </a:p>
          <a:p>
            <a:pPr marL="0" indent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 with a read-only role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AI Nanodegree — Udacity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229600" y="47091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B6B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A60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LESSON 7 · RETRIEVAL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F1B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RAG: retrieve, reflect, retry</a:t>
            </a:r>
            <a:endParaRPr lang="en-US" sz="2600" dirty="0"/>
          </a:p>
        </p:txBody>
      </p:sp>
      <p:sp>
        <p:nvSpPr>
          <p:cNvPr id="5" name="Title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207008"/>
            <a:ext cx="640080" cy="41148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Code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17320"/>
            <a:ext cx="4937760" cy="2834640"/>
          </a:xfrm>
          <a:prstGeom prst="rect">
            <a:avLst/>
          </a:prstGeom>
          <a:solidFill>
            <a:srgbClr val="0B2A3A"/>
          </a:solidFill>
          <a:ln w="12700">
            <a:solidFill>
              <a:srgbClr val="1D54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04088" y="1517904"/>
            <a:ext cx="4535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02B3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 · RETRIEVAL THAT SELF-CORRECTS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04088" y="1764792"/>
            <a:ext cx="4572000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02B3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attempt in range(3):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docs = store.search(query)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verdict = llm("Enough to answer?"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f" OK or a better query:\n{docs}")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02B3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verdict.startswith("OK"):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02B3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break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8FAE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query = verdict          # reformulate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02B3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"I don't have enough information."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answer = llm(ANSWER, docs, question)</a:t>
            </a:r>
            <a:endParaRPr lang="en-US" sz="950" dirty="0"/>
          </a:p>
        </p:txBody>
      </p:sp>
      <p:pic>
        <p:nvPicPr>
          <p:cNvPr id="9" name="Image 0" descr="Illustration: three nodes cycling around a central document stor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15000" y="1463040"/>
            <a:ext cx="2926080" cy="1965960"/>
          </a:xfrm>
          <a:prstGeom prst="rect">
            <a:avLst/>
          </a:prstGeom>
        </p:spPr>
      </p:pic>
      <p:sp>
        <p:nvSpPr>
          <p:cNvPr id="10" name="Caption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15000" y="3611880"/>
            <a:ext cx="2926080" cy="640080"/>
          </a:xfrm>
          <a:prstGeom prst="rect">
            <a:avLst/>
          </a:prstGeom>
          <a:solidFill>
            <a:srgbClr val="F4F7F9"/>
          </a:solidFill>
          <a:ln w="12700">
            <a:solidFill>
              <a:srgbClr val="E2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943600" y="37033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B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Classic RAG retrieves once. This one judges the result.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0292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AI Nanodegree — Udacity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229600" y="47091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B6B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A60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LESSON 8 · PERSISTENCE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F1B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Long-term memory: three kinds, scoped</a:t>
            </a:r>
            <a:endParaRPr lang="en-US" sz="2600" dirty="0"/>
          </a:p>
        </p:txBody>
      </p:sp>
      <p:sp>
        <p:nvSpPr>
          <p:cNvPr id="5" name="Title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207008"/>
            <a:ext cx="640080" cy="41148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Code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17320"/>
            <a:ext cx="5257800" cy="2560320"/>
          </a:xfrm>
          <a:prstGeom prst="rect">
            <a:avLst/>
          </a:prstGeom>
          <a:solidFill>
            <a:srgbClr val="0B2A3A"/>
          </a:solidFill>
          <a:ln w="12700">
            <a:solidFill>
              <a:srgbClr val="1D54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04088" y="1517904"/>
            <a:ext cx="4855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02B3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 · WRITE, THEN RECALL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04088" y="1764792"/>
            <a:ext cx="4892040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02B3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store.save(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8FAE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kind="semantic",      # a fact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scope=("user", user_id),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text="Prefers window seats.",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ttl_days=365)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8FAE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episodic - what happened last time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8FAE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procedural - how to do the task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hits = store.search(user_msg,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scope=("user", user_id), k=3)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reply = llm(SYSTEM + str(hits), user_msg)</a:t>
            </a:r>
            <a:endParaRPr lang="en-US" sz="950" dirty="0"/>
          </a:p>
        </p:txBody>
      </p:sp>
      <p:sp>
        <p:nvSpPr>
          <p:cNvPr id="9" name="Note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89320" y="1417320"/>
            <a:ext cx="2651760" cy="2560320"/>
          </a:xfrm>
          <a:prstGeom prst="rect">
            <a:avLst/>
          </a:prstGeom>
          <a:solidFill>
            <a:srgbClr val="F4F7F9"/>
          </a:solidFill>
          <a:ln w="12700">
            <a:solidFill>
              <a:srgbClr val="E2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Panel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89320" y="1417320"/>
            <a:ext cx="54864" cy="2560320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45352" y="155448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0A60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 AND EXPIRY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245352" y="182880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— personal preferences</a:t>
            </a:r>
            <a:endParaRPr lang="en-US" sz="1050" dirty="0"/>
          </a:p>
          <a:p>
            <a:pPr marL="0" indent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 — shared conventions</a:t>
            </a:r>
            <a:endParaRPr lang="en-US" sz="1050" dirty="0"/>
          </a:p>
          <a:p>
            <a:pPr marL="0" indent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Global — organisation-wide rules</a:t>
            </a:r>
            <a:endParaRPr lang="en-US" sz="1050" dirty="0"/>
          </a:p>
          <a:p>
            <a:pPr marL="0" indent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TTLs so stale facts fall away</a:t>
            </a:r>
            <a:endParaRPr lang="en-US" sz="1050" dirty="0"/>
          </a:p>
          <a:p>
            <a:pPr marL="0" indent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Recall is retrieval, not the full store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AI Nanodegree — Udacity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229600" y="47091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B6B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A60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LESSON 9 · EVALUATION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F1B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Evaluating an agent, not just an answer</a:t>
            </a:r>
            <a:endParaRPr lang="en-US" sz="2600" dirty="0"/>
          </a:p>
        </p:txBody>
      </p:sp>
      <p:sp>
        <p:nvSpPr>
          <p:cNvPr id="5" name="Title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207008"/>
            <a:ext cx="640080" cy="41148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tep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17320"/>
            <a:ext cx="1874520" cy="1325880"/>
          </a:xfrm>
          <a:prstGeom prst="rect">
            <a:avLst/>
          </a:prstGeom>
          <a:solidFill>
            <a:srgbClr val="F4F7F9"/>
          </a:solidFill>
          <a:ln w="12700">
            <a:solidFill>
              <a:srgbClr val="E2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te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17320"/>
            <a:ext cx="1874520" cy="54864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67512" y="1572768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B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Final response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67512" y="2103120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Did the output match the ideal answer?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377440" y="1920240"/>
            <a:ext cx="210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A60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Step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87752" y="1417320"/>
            <a:ext cx="1874520" cy="1325880"/>
          </a:xfrm>
          <a:prstGeom prst="rect">
            <a:avLst/>
          </a:prstGeom>
          <a:solidFill>
            <a:srgbClr val="F4F7F9"/>
          </a:solidFill>
          <a:ln w="12700">
            <a:solidFill>
              <a:srgbClr val="E2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te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87752" y="1417320"/>
            <a:ext cx="1874520" cy="54864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52344" y="1572768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B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Single step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52344" y="2103120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Was the right tool called with </a:t>
            </a:r>
            <a:r>
              <a:rPr lang="en-US" sz="95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</a:t>
            </a:r>
            <a:r>
              <a:rPr lang="en-US" sz="9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right </a:t>
            </a:r>
            <a:r>
              <a:rPr lang="en-US" sz="95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arguments</a:t>
            </a:r>
            <a:r>
              <a:rPr lang="en-US" sz="9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?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462272" y="1920240"/>
            <a:ext cx="210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A60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tep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2584" y="1417320"/>
            <a:ext cx="1874520" cy="1325880"/>
          </a:xfrm>
          <a:prstGeom prst="rect">
            <a:avLst/>
          </a:prstGeom>
          <a:solidFill>
            <a:srgbClr val="F4F7F9"/>
          </a:solidFill>
          <a:ln w="12700">
            <a:solidFill>
              <a:srgbClr val="E2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te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2584" y="1417320"/>
            <a:ext cx="1874520" cy="54864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37176" y="1572768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B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Trajectory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37176" y="2103120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Was the whole path sensible and short?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547104" y="1920240"/>
            <a:ext cx="210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A60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Step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57416" y="1417320"/>
            <a:ext cx="1874520" cy="1325880"/>
          </a:xfrm>
          <a:prstGeom prst="rect">
            <a:avLst/>
          </a:prstGeom>
          <a:solidFill>
            <a:srgbClr val="F4F7F9"/>
          </a:solidFill>
          <a:ln w="12700">
            <a:solidFill>
              <a:srgbClr val="E2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te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57416" y="1417320"/>
            <a:ext cx="1874520" cy="54864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922008" y="1572768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B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 as judge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922008" y="2103120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Score free text against written criteria.</a:t>
            </a:r>
            <a:endParaRPr lang="en-US" sz="950" dirty="0"/>
          </a:p>
        </p:txBody>
      </p:sp>
      <p:sp>
        <p:nvSpPr>
          <p:cNvPr id="25" name="Code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971800"/>
            <a:ext cx="8138160" cy="1280160"/>
          </a:xfrm>
          <a:prstGeom prst="rect">
            <a:avLst/>
          </a:prstGeom>
          <a:solidFill>
            <a:srgbClr val="0B2A3A"/>
          </a:solidFill>
          <a:ln w="12700">
            <a:solidFill>
              <a:srgbClr val="1D54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04088" y="3072384"/>
            <a:ext cx="7735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02B3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 · A TRAJECTORY ASSERTION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04088" y="3319272"/>
            <a:ext cx="7772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 = agent.run(case["input"])</a:t>
            </a: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02B3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 [s.tool for s in trace] == case["expected_tools"]</a:t>
            </a: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FAE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 trace.steps &lt;= 6 and trace.cost &lt; 0.05   # system metrics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292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AI Nanodegree — Udacity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229600" y="47091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B6B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0B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2B3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COURSE 3 · RECAP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turns a chatbot into an agent</a:t>
            </a:r>
            <a:endParaRPr lang="en-US" sz="2600" dirty="0"/>
          </a:p>
        </p:txBody>
      </p:sp>
      <p:sp>
        <p:nvSpPr>
          <p:cNvPr id="5" name="Number bulle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627632"/>
            <a:ext cx="256032" cy="256032"/>
          </a:xfrm>
          <a:prstGeom prst="ellipse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60120" y="1591056"/>
            <a:ext cx="7635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6E7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Tools — the model names the call, your runtime executes it.</a:t>
            </a:r>
            <a:endParaRPr lang="en-US" sz="1300" dirty="0"/>
          </a:p>
        </p:txBody>
      </p:sp>
      <p:sp>
        <p:nvSpPr>
          <p:cNvPr id="8" name="Number bulle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176272"/>
            <a:ext cx="256032" cy="256032"/>
          </a:xfrm>
          <a:prstGeom prst="ellipse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2194560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60120" y="2139696"/>
            <a:ext cx="7635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6E7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Schemas — Pydantic makes the output a contract, not prose.</a:t>
            </a:r>
            <a:endParaRPr lang="en-US" sz="1300" dirty="0"/>
          </a:p>
        </p:txBody>
      </p:sp>
      <p:sp>
        <p:nvSpPr>
          <p:cNvPr id="11" name="Number bulle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724912"/>
            <a:ext cx="256032" cy="256032"/>
          </a:xfrm>
          <a:prstGeom prst="ellipse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2743200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60120" y="2688336"/>
            <a:ext cx="7635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6E7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State — a typed dict plus explicit transitions, never a loose loop.</a:t>
            </a:r>
            <a:endParaRPr lang="en-US" sz="1300" dirty="0"/>
          </a:p>
        </p:txBody>
      </p:sp>
      <p:sp>
        <p:nvSpPr>
          <p:cNvPr id="14" name="Number bulle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273552"/>
            <a:ext cx="256032" cy="256032"/>
          </a:xfrm>
          <a:prstGeom prst="ellipse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3291840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60120" y="3236976"/>
            <a:ext cx="7635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6E7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Memory — a window for now, a scoped store with TTLs for later.</a:t>
            </a:r>
            <a:endParaRPr lang="en-US" sz="1300" dirty="0"/>
          </a:p>
        </p:txBody>
      </p:sp>
      <p:sp>
        <p:nvSpPr>
          <p:cNvPr id="17" name="Number bulle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822192"/>
            <a:ext cx="256032" cy="256032"/>
          </a:xfrm>
          <a:prstGeom prst="ellipse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3840480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60120" y="3785616"/>
            <a:ext cx="7635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6E7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Evaluation — score the trajectory and the tool calls, not just the answer.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4343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FC4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capability you add is another thing that can fail — wrap it, cap it, log it.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0292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A6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AI Nanodegree — Udacity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229600" y="47091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7FA6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[decorative] Left accent bar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B3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</a:t>
            </a:r>
            <a:r>
              <a:rPr lang="en-US" sz="1100" b="1" kern="0" spc="200">
                <a:solidFill>
                  <a:srgbClr val="02B3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60020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MULTI-AGENT SYSTEMS</a:t>
            </a:r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Course 4, in code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85800" y="265176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DDE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Multi-agent systems — an org chart for your AI team: roles, orchestration, routing, shared state and retrieval.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A6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AI Nanodegree — Udacity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0" y="47091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7FA6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41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[decorative] Top accent bar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>
                <a:solidFill>
                  <a:srgbClr val="0A60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LESSON </a:t>
            </a:r>
            <a:r>
              <a:rPr lang="en-US" sz="950" b="1" kern="0" spc="200" dirty="0">
                <a:solidFill>
                  <a:srgbClr val="0A60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· </a:t>
            </a:r>
            <a:r>
              <a:rPr lang="en-US" sz="950" b="1" kern="0" spc="200">
                <a:solidFill>
                  <a:srgbClr val="0A60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ORCHESTRATING AGENT ACTIVITIES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B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restaurant, not a genius</a:t>
            </a:r>
            <a:endParaRPr lang="en-US" sz="2600" dirty="0"/>
          </a:p>
        </p:txBody>
      </p:sp>
      <p:sp>
        <p:nvSpPr>
          <p:cNvPr id="5" name="[decorative] Title rule"/>
          <p:cNvSpPr/>
          <p:nvPr/>
        </p:nvSpPr>
        <p:spPr>
          <a:xfrm>
            <a:off x="502920" y="1207008"/>
            <a:ext cx="822960" cy="41148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[decorative] Card"/>
          <p:cNvSpPr/>
          <p:nvPr/>
        </p:nvSpPr>
        <p:spPr>
          <a:xfrm>
            <a:off x="502920" y="1417320"/>
            <a:ext cx="2560320" cy="1234440"/>
          </a:xfrm>
          <a:prstGeom prst="rect">
            <a:avLst/>
          </a:prstGeom>
          <a:solidFill>
            <a:srgbClr val="F4F7F9"/>
          </a:solidFill>
          <a:ln w="12700">
            <a:solidFill>
              <a:srgbClr val="E2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[decorative] Card accent"/>
          <p:cNvSpPr/>
          <p:nvPr/>
        </p:nvSpPr>
        <p:spPr>
          <a:xfrm>
            <a:off x="502920" y="1417320"/>
            <a:ext cx="54864" cy="1234440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58952" y="158191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B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Host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58952" y="198424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Greets, triages, seats — the router.</a:t>
            </a:r>
            <a:endParaRPr lang="en-US" sz="1050" dirty="0"/>
          </a:p>
        </p:txBody>
      </p:sp>
      <p:sp>
        <p:nvSpPr>
          <p:cNvPr id="10" name="[decorative] Card"/>
          <p:cNvSpPr/>
          <p:nvPr/>
        </p:nvSpPr>
        <p:spPr>
          <a:xfrm>
            <a:off x="3291840" y="1417320"/>
            <a:ext cx="2560320" cy="1234440"/>
          </a:xfrm>
          <a:prstGeom prst="rect">
            <a:avLst/>
          </a:prstGeom>
          <a:solidFill>
            <a:srgbClr val="F4F7F9"/>
          </a:solidFill>
          <a:ln w="12700">
            <a:solidFill>
              <a:srgbClr val="E2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[decorative] Card accent"/>
          <p:cNvSpPr/>
          <p:nvPr/>
        </p:nvSpPr>
        <p:spPr>
          <a:xfrm>
            <a:off x="3291840" y="1417320"/>
            <a:ext cx="54864" cy="1234440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547872" y="158191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B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Waiter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547872" y="198424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Takes the order, carries it both ways.</a:t>
            </a:r>
            <a:endParaRPr lang="en-US" sz="1050" dirty="0"/>
          </a:p>
        </p:txBody>
      </p:sp>
      <p:sp>
        <p:nvSpPr>
          <p:cNvPr id="14" name="[decorative] Card"/>
          <p:cNvSpPr/>
          <p:nvPr/>
        </p:nvSpPr>
        <p:spPr>
          <a:xfrm>
            <a:off x="6080760" y="1417320"/>
            <a:ext cx="2560320" cy="1234440"/>
          </a:xfrm>
          <a:prstGeom prst="rect">
            <a:avLst/>
          </a:prstGeom>
          <a:solidFill>
            <a:srgbClr val="F4F7F9"/>
          </a:solidFill>
          <a:ln w="12700">
            <a:solidFill>
              <a:srgbClr val="E2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[decorative] Card accent"/>
          <p:cNvSpPr/>
          <p:nvPr/>
        </p:nvSpPr>
        <p:spPr>
          <a:xfrm>
            <a:off x="6080760" y="1417320"/>
            <a:ext cx="54864" cy="1234440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336792" y="158191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B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Chef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336792" y="198424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 specialism, one station each.</a:t>
            </a:r>
            <a:endParaRPr lang="en-US" sz="1050" dirty="0"/>
          </a:p>
        </p:txBody>
      </p:sp>
      <p:sp>
        <p:nvSpPr>
          <p:cNvPr id="18" name="[decorative] Card"/>
          <p:cNvSpPr/>
          <p:nvPr/>
        </p:nvSpPr>
        <p:spPr>
          <a:xfrm>
            <a:off x="502920" y="2880360"/>
            <a:ext cx="2560320" cy="1234440"/>
          </a:xfrm>
          <a:prstGeom prst="rect">
            <a:avLst/>
          </a:prstGeom>
          <a:solidFill>
            <a:srgbClr val="F4F7F9"/>
          </a:solidFill>
          <a:ln w="12700">
            <a:solidFill>
              <a:srgbClr val="E2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[decorative] Card accent"/>
          <p:cNvSpPr/>
          <p:nvPr/>
        </p:nvSpPr>
        <p:spPr>
          <a:xfrm>
            <a:off x="502920" y="2880360"/>
            <a:ext cx="54864" cy="1234440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58952" y="304495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B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Manager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58952" y="344728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Sees the whole floor — the orchestrator.</a:t>
            </a:r>
            <a:endParaRPr lang="en-US" sz="1050" dirty="0"/>
          </a:p>
        </p:txBody>
      </p:sp>
      <p:sp>
        <p:nvSpPr>
          <p:cNvPr id="22" name="[decorative] Card"/>
          <p:cNvSpPr/>
          <p:nvPr/>
        </p:nvSpPr>
        <p:spPr>
          <a:xfrm>
            <a:off x="3291840" y="2880360"/>
            <a:ext cx="2560320" cy="1234440"/>
          </a:xfrm>
          <a:prstGeom prst="rect">
            <a:avLst/>
          </a:prstGeom>
          <a:solidFill>
            <a:srgbClr val="F4F7F9"/>
          </a:solidFill>
          <a:ln w="12700">
            <a:solidFill>
              <a:srgbClr val="E2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[decorative] Card accent"/>
          <p:cNvSpPr/>
          <p:nvPr/>
        </p:nvSpPr>
        <p:spPr>
          <a:xfrm>
            <a:off x="3291840" y="2880360"/>
            <a:ext cx="54864" cy="1234440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547872" y="304495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B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rule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3547872" y="344728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Clear roles beat one clever generalist.</a:t>
            </a:r>
            <a:endParaRPr lang="en-US" sz="1050" dirty="0"/>
          </a:p>
        </p:txBody>
      </p:sp>
      <p:sp>
        <p:nvSpPr>
          <p:cNvPr id="26" name="[decorative] Card"/>
          <p:cNvSpPr/>
          <p:nvPr/>
        </p:nvSpPr>
        <p:spPr>
          <a:xfrm>
            <a:off x="6080760" y="2880360"/>
            <a:ext cx="2560320" cy="1234440"/>
          </a:xfrm>
          <a:prstGeom prst="rect">
            <a:avLst/>
          </a:prstGeom>
          <a:solidFill>
            <a:srgbClr val="F4F7F9"/>
          </a:solidFill>
          <a:ln w="12700">
            <a:solidFill>
              <a:srgbClr val="E2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[decorative] Card accent"/>
          <p:cNvSpPr/>
          <p:nvPr/>
        </p:nvSpPr>
        <p:spPr>
          <a:xfrm>
            <a:off x="6080760" y="2880360"/>
            <a:ext cx="54864" cy="1234440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336792" y="304495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B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code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336792" y="344728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class per role, each with its own tools.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0292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AI Nanodegree — Udacity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229600" y="47091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B6B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42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[decorative] Top accent bar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>
                <a:solidFill>
                  <a:srgbClr val="0A60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LESSON </a:t>
            </a:r>
            <a:r>
              <a:rPr lang="en-US" sz="950" b="1" kern="0" spc="200" dirty="0">
                <a:solidFill>
                  <a:srgbClr val="0A60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· </a:t>
            </a:r>
            <a:r>
              <a:rPr lang="en-US" sz="950" b="1" kern="0" spc="200">
                <a:solidFill>
                  <a:srgbClr val="0A60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ORCHESTRATING AGENT ACTIVITIES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B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Orchestrator: one manager, many workers</a:t>
            </a:r>
            <a:endParaRPr lang="en-US" sz="2600" dirty="0"/>
          </a:p>
        </p:txBody>
      </p:sp>
      <p:sp>
        <p:nvSpPr>
          <p:cNvPr id="5" name="[decorative] Title rule"/>
          <p:cNvSpPr/>
          <p:nvPr/>
        </p:nvSpPr>
        <p:spPr>
          <a:xfrm>
            <a:off x="502920" y="1207008"/>
            <a:ext cx="822960" cy="41148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[decorative] Code panel"/>
          <p:cNvSpPr/>
          <p:nvPr/>
        </p:nvSpPr>
        <p:spPr>
          <a:xfrm>
            <a:off x="502920" y="1417320"/>
            <a:ext cx="4937760" cy="2377440"/>
          </a:xfrm>
          <a:prstGeom prst="rect">
            <a:avLst/>
          </a:prstGeom>
          <a:solidFill>
            <a:srgbClr val="0B2A3A"/>
          </a:solidFill>
          <a:ln w="12700">
            <a:solidFill>
              <a:srgbClr val="1D54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04088" y="1517904"/>
            <a:ext cx="4535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02B3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 · E-COMMERCE RETURN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04088" y="1764792"/>
            <a:ext cx="4572000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02B3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handle_return(req):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check = policy_agent.run(req)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02B3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check.status != "eligible":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02B3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denial_agent.run(check)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inventory_agent.run(check.sku)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refund = refund_agent.run(check.order_id)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02B3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comms_agent.run(refund)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8FAE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hub and spoke - every hop via the centre</a:t>
            </a:r>
            <a:endParaRPr lang="en-US" sz="950" dirty="0"/>
          </a:p>
        </p:txBody>
      </p:sp>
      <p:pic>
        <p:nvPicPr>
          <p:cNvPr id="9" name="Image 0" descr="Illustration: a central hub node connected by spokes to four worker nodes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715000" y="1463040"/>
            <a:ext cx="2926080" cy="1965960"/>
          </a:xfrm>
          <a:prstGeom prst="rect">
            <a:avLst/>
          </a:prstGeom>
        </p:spPr>
      </p:pic>
      <p:sp>
        <p:nvSpPr>
          <p:cNvPr id="10" name="[decorative] Caption panel"/>
          <p:cNvSpPr/>
          <p:nvPr/>
        </p:nvSpPr>
        <p:spPr>
          <a:xfrm>
            <a:off x="5715000" y="3611880"/>
            <a:ext cx="2926080" cy="640080"/>
          </a:xfrm>
          <a:prstGeom prst="rect">
            <a:avLst/>
          </a:prstGeom>
          <a:solidFill>
            <a:srgbClr val="F4F7F9"/>
          </a:solidFill>
          <a:ln w="12700">
            <a:solidFill>
              <a:srgbClr val="E2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943600" y="37033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B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Best when the order of steps is known and matters.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0292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AI Nanodegree — Udacity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229600" y="47091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B6B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43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[decorative] Top accent bar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>
                <a:solidFill>
                  <a:srgbClr val="0A60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LESSON </a:t>
            </a:r>
            <a:r>
              <a:rPr lang="en-US" sz="950" b="1" kern="0" spc="200" dirty="0">
                <a:solidFill>
                  <a:srgbClr val="0A60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· </a:t>
            </a:r>
            <a:r>
              <a:rPr lang="en-US" sz="950" b="1" kern="0" spc="200">
                <a:solidFill>
                  <a:srgbClr val="0A60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ORCHESTRATING AGENT ACTIVITIES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B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Peer-to-peer: no boss, more flexibility</a:t>
            </a:r>
            <a:endParaRPr lang="en-US" sz="2600" dirty="0"/>
          </a:p>
        </p:txBody>
      </p:sp>
      <p:sp>
        <p:nvSpPr>
          <p:cNvPr id="5" name="[decorative] Title rule"/>
          <p:cNvSpPr/>
          <p:nvPr/>
        </p:nvSpPr>
        <p:spPr>
          <a:xfrm>
            <a:off x="502920" y="1207008"/>
            <a:ext cx="822960" cy="41148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[decorative] Code panel"/>
          <p:cNvSpPr/>
          <p:nvPr/>
        </p:nvSpPr>
        <p:spPr>
          <a:xfrm>
            <a:off x="502920" y="1417320"/>
            <a:ext cx="4937760" cy="2377440"/>
          </a:xfrm>
          <a:prstGeom prst="rect">
            <a:avLst/>
          </a:prstGeom>
          <a:solidFill>
            <a:srgbClr val="0B2A3A"/>
          </a:solidFill>
          <a:ln w="12700">
            <a:solidFill>
              <a:srgbClr val="1D54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04088" y="1517904"/>
            <a:ext cx="4535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02B3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 · AGENTS HAND OFF DIRECTLY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04088" y="1764792"/>
            <a:ext cx="4572000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8FAE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network fault diagnosis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anomaly = monitor_agent.detect()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layout  = topology_agent.ask(anomaly.node)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logs, traffic = run_parallel(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lambda: log_agent.check(layout.devices),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lambda: traffic_agent.scan(layout.links))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02B3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diagnose(logs, traffic)</a:t>
            </a:r>
            <a:endParaRPr lang="en-US" sz="950" dirty="0"/>
          </a:p>
        </p:txBody>
      </p:sp>
      <p:pic>
        <p:nvPicPr>
          <p:cNvPr id="9" name="Image 0" descr="Illustration: five equal nodes connected directly to each other in a mesh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715000" y="1463040"/>
            <a:ext cx="2926080" cy="1965960"/>
          </a:xfrm>
          <a:prstGeom prst="rect">
            <a:avLst/>
          </a:prstGeom>
        </p:spPr>
      </p:pic>
      <p:sp>
        <p:nvSpPr>
          <p:cNvPr id="10" name="[decorative] Caption panel"/>
          <p:cNvSpPr/>
          <p:nvPr/>
        </p:nvSpPr>
        <p:spPr>
          <a:xfrm>
            <a:off x="5715000" y="3611880"/>
            <a:ext cx="2926080" cy="640080"/>
          </a:xfrm>
          <a:prstGeom prst="rect">
            <a:avLst/>
          </a:prstGeom>
          <a:solidFill>
            <a:srgbClr val="F4F7F9"/>
          </a:solidFill>
          <a:ln w="12700">
            <a:solidFill>
              <a:srgbClr val="E2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943600" y="37033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B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Flexible when the sequence isn't known — and harder to debug.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0292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AI Nanodegree — Udacity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229600" y="47091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B6B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44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[decorative] Top accent bar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>
                <a:solidFill>
                  <a:srgbClr val="0A60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LESSON 1 </a:t>
            </a:r>
            <a:r>
              <a:rPr lang="en-US" sz="950" b="1" kern="0" spc="200" dirty="0">
                <a:solidFill>
                  <a:srgbClr val="0A60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</a:t>
            </a:r>
            <a:r>
              <a:rPr lang="en-US" sz="950" b="1" kern="0" spc="200">
                <a:solidFill>
                  <a:srgbClr val="0A60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ORCHESTRATING AGENT ACTIVITIES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B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 agent is a class plus a job description</a:t>
            </a:r>
            <a:endParaRPr lang="en-US" sz="2600" dirty="0"/>
          </a:p>
        </p:txBody>
      </p:sp>
      <p:sp>
        <p:nvSpPr>
          <p:cNvPr id="5" name="[decorative] Title rule"/>
          <p:cNvSpPr/>
          <p:nvPr/>
        </p:nvSpPr>
        <p:spPr>
          <a:xfrm>
            <a:off x="502920" y="1207008"/>
            <a:ext cx="822960" cy="41148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[decorative] Code panel"/>
          <p:cNvSpPr/>
          <p:nvPr/>
        </p:nvSpPr>
        <p:spPr>
          <a:xfrm>
            <a:off x="502920" y="1417320"/>
            <a:ext cx="5257800" cy="2377440"/>
          </a:xfrm>
          <a:prstGeom prst="rect">
            <a:avLst/>
          </a:prstGeom>
          <a:solidFill>
            <a:srgbClr val="0B2A3A"/>
          </a:solidFill>
          <a:ln w="12700">
            <a:solidFill>
              <a:srgbClr val="1D54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04088" y="1517904"/>
            <a:ext cx="4855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02B3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 · SPECIALISE BY PROMPT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04088" y="1764792"/>
            <a:ext cx="4892040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02B3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ValidationAgent(ToolCallingAgent):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02B3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model):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super().__init__(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model=model, name="validator",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tools=[validate_schema],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7FD1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description="""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7FD1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You are a Data Validation Agent.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7FD1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You check user data against schemas.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7FD1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You do NOT calculate or call APIs.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7FD1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You ONLY use validate_schema.""")</a:t>
            </a:r>
            <a:endParaRPr lang="en-US" sz="950" dirty="0"/>
          </a:p>
        </p:txBody>
      </p:sp>
      <p:sp>
        <p:nvSpPr>
          <p:cNvPr id="9" name="[decorative] Note panel"/>
          <p:cNvSpPr/>
          <p:nvPr/>
        </p:nvSpPr>
        <p:spPr>
          <a:xfrm>
            <a:off x="5989320" y="1417320"/>
            <a:ext cx="2651760" cy="2377440"/>
          </a:xfrm>
          <a:prstGeom prst="rect">
            <a:avLst/>
          </a:prstGeom>
          <a:solidFill>
            <a:srgbClr val="F4F7F9"/>
          </a:solidFill>
          <a:ln w="12700">
            <a:solidFill>
              <a:srgbClr val="E2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[decorative] Panel accent"/>
          <p:cNvSpPr/>
          <p:nvPr/>
        </p:nvSpPr>
        <p:spPr>
          <a:xfrm>
            <a:off x="5989320" y="1417320"/>
            <a:ext cx="54864" cy="2377440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45352" y="155448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0A60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EVERY AGENT PROMPT NEEDS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245352" y="182880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 you are</a:t>
            </a:r>
            <a:endParaRPr lang="en-US" sz="1050" dirty="0"/>
          </a:p>
          <a:p>
            <a:pPr marL="0" indent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you do — one purpose</a:t>
            </a:r>
            <a:endParaRPr lang="en-US" sz="1050" dirty="0"/>
          </a:p>
          <a:p>
            <a:pPr marL="0" indent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you do not do</a:t>
            </a:r>
            <a:endParaRPr lang="en-US" sz="1050" dirty="0"/>
          </a:p>
          <a:p>
            <a:pPr marL="0" indent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Which tools you may call</a:t>
            </a:r>
            <a:endParaRPr lang="en-US" sz="1050" dirty="0"/>
          </a:p>
          <a:p>
            <a:pPr marL="0" indent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Ambiguity is the enemy here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AI Nanodegree — Udacity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229600" y="47091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B6B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45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[decorative] Top accent bar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>
                <a:solidFill>
                  <a:srgbClr val="0A60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LESSON 1 </a:t>
            </a:r>
            <a:r>
              <a:rPr lang="en-US" sz="950" b="1" kern="0" spc="200" dirty="0">
                <a:solidFill>
                  <a:srgbClr val="0A60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</a:t>
            </a:r>
            <a:r>
              <a:rPr lang="en-US" sz="950" b="1" kern="0" spc="200">
                <a:solidFill>
                  <a:srgbClr val="0A60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ORCHESTRATING AGENT ACTIVITIES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B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tool must never crash the agent</a:t>
            </a:r>
            <a:endParaRPr lang="en-US" sz="2600" dirty="0"/>
          </a:p>
        </p:txBody>
      </p:sp>
      <p:sp>
        <p:nvSpPr>
          <p:cNvPr id="5" name="[decorative] Title rule"/>
          <p:cNvSpPr/>
          <p:nvPr/>
        </p:nvSpPr>
        <p:spPr>
          <a:xfrm>
            <a:off x="502920" y="1207008"/>
            <a:ext cx="822960" cy="41148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[decorative] Code panel"/>
          <p:cNvSpPr/>
          <p:nvPr/>
        </p:nvSpPr>
        <p:spPr>
          <a:xfrm>
            <a:off x="502920" y="1417320"/>
            <a:ext cx="5257800" cy="2377440"/>
          </a:xfrm>
          <a:prstGeom prst="rect">
            <a:avLst/>
          </a:prstGeom>
          <a:solidFill>
            <a:srgbClr val="0B2A3A"/>
          </a:solidFill>
          <a:ln w="12700">
            <a:solidFill>
              <a:srgbClr val="1D54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04088" y="1517904"/>
            <a:ext cx="4855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02B3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 · DESCRIPTION IS THE INTERFACE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04088" y="1764792"/>
            <a:ext cx="4892040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02B3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@tool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02B3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check_inventory(product_id: str) -&gt; str: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7FD1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"""Check stock for a product ID in the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7FD1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inventory DB. Returns the count, or an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7FD1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error if the ID is unknown."""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02B3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try: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f"{db.stock(product_id)} in stock"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02B3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except Exception as e: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8FAE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log.exception(e)      # for you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"Lookup failed - try later."</a:t>
            </a:r>
            <a:endParaRPr lang="en-US" sz="950" dirty="0"/>
          </a:p>
        </p:txBody>
      </p:sp>
      <p:sp>
        <p:nvSpPr>
          <p:cNvPr id="9" name="[decorative] Note panel"/>
          <p:cNvSpPr/>
          <p:nvPr/>
        </p:nvSpPr>
        <p:spPr>
          <a:xfrm>
            <a:off x="5989320" y="1417320"/>
            <a:ext cx="2651760" cy="2377440"/>
          </a:xfrm>
          <a:prstGeom prst="rect">
            <a:avLst/>
          </a:prstGeom>
          <a:solidFill>
            <a:srgbClr val="F4F7F9"/>
          </a:solidFill>
          <a:ln w="12700">
            <a:solidFill>
              <a:srgbClr val="E2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[decorative] Panel accent"/>
          <p:cNvSpPr/>
          <p:nvPr/>
        </p:nvSpPr>
        <p:spPr>
          <a:xfrm>
            <a:off x="5989320" y="1417320"/>
            <a:ext cx="54864" cy="2377440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45352" y="155448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0A60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RETURN, DON'T RAISE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245352" y="182880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docstring is what the model reads</a:t>
            </a:r>
            <a:endParaRPr lang="en-US" sz="1050" dirty="0"/>
          </a:p>
          <a:p>
            <a:pPr marL="0" indent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Typed args become the schema</a:t>
            </a:r>
            <a:endParaRPr lang="en-US" sz="1050" dirty="0"/>
          </a:p>
          <a:p>
            <a:pPr marL="0" indent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Wrap every network and DB call</a:t>
            </a:r>
            <a:endParaRPr lang="en-US" sz="1050" dirty="0"/>
          </a:p>
          <a:p>
            <a:pPr marL="0" indent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 the traceback for humans</a:t>
            </a:r>
            <a:endParaRPr lang="en-US" sz="1050" dirty="0"/>
          </a:p>
          <a:p>
            <a:pPr marL="0" indent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Return a sentence the model can act 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AI Nanodegree — Udacity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229600" y="47091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B6B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46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>
                <a:solidFill>
                  <a:srgbClr val="0A60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LESSON 1 </a:t>
            </a:r>
            <a:r>
              <a:rPr lang="en-US" sz="950" b="1" kern="0" spc="200" dirty="0">
                <a:solidFill>
                  <a:srgbClr val="0A60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</a:t>
            </a:r>
            <a:r>
              <a:rPr lang="en-US" sz="950" b="1" kern="0" spc="200">
                <a:solidFill>
                  <a:srgbClr val="0A60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ORCHESTRATING AGENT ACTIVITIES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B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orchestration moves</a:t>
            </a:r>
            <a:r>
              <a:rPr lang="en-US" sz="2600" b="1">
                <a:solidFill>
                  <a:srgbClr val="0F1B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— and the mix</a:t>
            </a:r>
            <a:endParaRPr lang="en-US" sz="2600" dirty="0"/>
          </a:p>
        </p:txBody>
      </p:sp>
      <p:sp>
        <p:nvSpPr>
          <p:cNvPr id="5" name="Title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207008"/>
            <a:ext cx="822960" cy="41148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tep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17320"/>
            <a:ext cx="1874520" cy="1325880"/>
          </a:xfrm>
          <a:prstGeom prst="rect">
            <a:avLst/>
          </a:prstGeom>
          <a:solidFill>
            <a:srgbClr val="F4F7F9"/>
          </a:solidFill>
          <a:ln w="12700">
            <a:solidFill>
              <a:srgbClr val="E2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te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17320"/>
            <a:ext cx="1874520" cy="54864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67512" y="1572768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B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Sequential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67512" y="2103120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Each step needs the last one's output.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377440" y="1920240"/>
            <a:ext cx="210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A60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Step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87752" y="1417320"/>
            <a:ext cx="1874520" cy="1325880"/>
          </a:xfrm>
          <a:prstGeom prst="rect">
            <a:avLst/>
          </a:prstGeom>
          <a:solidFill>
            <a:srgbClr val="F4F7F9"/>
          </a:solidFill>
          <a:ln w="12700">
            <a:solidFill>
              <a:srgbClr val="E2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te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87752" y="1417320"/>
            <a:ext cx="1874520" cy="54864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52344" y="1572768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B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Parallel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52344" y="2103120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Independent tasks run at the same time.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462272" y="1920240"/>
            <a:ext cx="210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A60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tep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2584" y="1417320"/>
            <a:ext cx="1874520" cy="1325880"/>
          </a:xfrm>
          <a:prstGeom prst="rect">
            <a:avLst/>
          </a:prstGeom>
          <a:solidFill>
            <a:srgbClr val="F4F7F9"/>
          </a:solidFill>
          <a:ln w="12700">
            <a:solidFill>
              <a:srgbClr val="E2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te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2584" y="1417320"/>
            <a:ext cx="1874520" cy="54864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37176" y="1572768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B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Conditional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37176" y="2103120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branch depends on an agent's verdict.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547104" y="1920240"/>
            <a:ext cx="210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A60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Step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57416" y="1417320"/>
            <a:ext cx="1874520" cy="1325880"/>
          </a:xfrm>
          <a:prstGeom prst="rect">
            <a:avLst/>
          </a:prstGeom>
          <a:solidFill>
            <a:srgbClr val="F4F7F9"/>
          </a:solidFill>
          <a:ln w="12700">
            <a:solidFill>
              <a:srgbClr val="E2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te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57416" y="1417320"/>
            <a:ext cx="1874520" cy="54864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922008" y="1572768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B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Mixed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922008" y="2103120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 workflows combine all three.</a:t>
            </a:r>
            <a:endParaRPr lang="en-US" sz="950" dirty="0"/>
          </a:p>
        </p:txBody>
      </p:sp>
      <p:sp>
        <p:nvSpPr>
          <p:cNvPr id="25" name="Code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971800"/>
            <a:ext cx="8138160" cy="1280160"/>
          </a:xfrm>
          <a:prstGeom prst="rect">
            <a:avLst/>
          </a:prstGeom>
          <a:solidFill>
            <a:srgbClr val="0B2A3A"/>
          </a:solidFill>
          <a:ln w="12700">
            <a:solidFill>
              <a:srgbClr val="1D54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04088" y="3072384"/>
            <a:ext cx="7735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02B3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 · ALL THREE IN ONE WORKFLOW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04088" y="3319272"/>
            <a:ext cx="7772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8FAE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notes = research_agent.run(topic)                    # sequential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draft = writing_agent.run(topic, notes)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8FAE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seo, art = run_parallel(seo_agent, image_agent, draft)  # parallel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02B3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publish(draft) if editor.approves(draft) else revise(draft)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0292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AI Nanodegree — Udacity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229600" y="47091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B6B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47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>
                <a:solidFill>
                  <a:srgbClr val="0A60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LESSON 1 </a:t>
            </a:r>
            <a:r>
              <a:rPr lang="en-US" sz="950" b="1" kern="0" spc="200" dirty="0">
                <a:solidFill>
                  <a:srgbClr val="0A60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</a:t>
            </a:r>
            <a:r>
              <a:rPr lang="en-US" sz="950" b="1" kern="0" spc="200">
                <a:solidFill>
                  <a:srgbClr val="0A60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ORCHESTRATING AGENT ACTIVITIES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B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Let the LLM route, not your if-statements</a:t>
            </a:r>
            <a:endParaRPr lang="en-US" sz="2600" dirty="0"/>
          </a:p>
        </p:txBody>
      </p:sp>
      <p:sp>
        <p:nvSpPr>
          <p:cNvPr id="5" name="Title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207008"/>
            <a:ext cx="822960" cy="41148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Code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17320"/>
            <a:ext cx="5257800" cy="2377440"/>
          </a:xfrm>
          <a:prstGeom prst="rect">
            <a:avLst/>
          </a:prstGeom>
          <a:solidFill>
            <a:srgbClr val="0B2A3A"/>
          </a:solidFill>
          <a:ln w="12700">
            <a:solidFill>
              <a:srgbClr val="1D54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04088" y="1517904"/>
            <a:ext cx="4855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02B3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 · SKATE PARK ORCHESTRATOR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04088" y="1764792"/>
            <a:ext cx="4892040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02B3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process(self, request):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kind = self.support_agent.diagnose(request)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8FAE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self.memory.steps = []     # fresh run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02B3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self.run(f"""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7FD1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Customer said: {request}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7FD1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Diagnosed as: {kind}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7FD1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Booking -&gt; check_availability, add_booking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7FD1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Shop    -&gt; inventory_level, sell_item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7FD1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Unclear -&gt; answer directly.""")</a:t>
            </a:r>
            <a:endParaRPr lang="en-US" sz="950" dirty="0"/>
          </a:p>
        </p:txBody>
      </p:sp>
      <p:sp>
        <p:nvSpPr>
          <p:cNvPr id="9" name="Note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89320" y="1417320"/>
            <a:ext cx="2651760" cy="2377440"/>
          </a:xfrm>
          <a:prstGeom prst="rect">
            <a:avLst/>
          </a:prstGeom>
          <a:solidFill>
            <a:srgbClr val="F4F7F9"/>
          </a:solidFill>
          <a:ln w="12700">
            <a:solidFill>
              <a:srgbClr val="E2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Panel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89320" y="1417320"/>
            <a:ext cx="54864" cy="2377440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45352" y="155448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0A60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TIERS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245352" y="182880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1 — classify the request</a:t>
            </a:r>
            <a:endParaRPr lang="en-US" sz="1050" dirty="0"/>
          </a:p>
          <a:p>
            <a:pPr marL="0" indent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2 — execute with tools</a:t>
            </a:r>
            <a:endParaRPr lang="en-US" sz="1050" dirty="0"/>
          </a:p>
          <a:p>
            <a:pPr marL="0" indent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Routing rules live in the prompt</a:t>
            </a:r>
            <a:endParaRPr lang="en-US" sz="1050" dirty="0"/>
          </a:p>
          <a:p>
            <a:pPr marL="0" indent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New capability = new tool line</a:t>
            </a:r>
            <a:endParaRPr lang="en-US" sz="1050" dirty="0"/>
          </a:p>
          <a:p>
            <a:pPr marL="0" indent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if/else tree to maintain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AI Nanodegree — Udacity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229600" y="47091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B6B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48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>
                <a:solidFill>
                  <a:srgbClr val="0A60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LESSON </a:t>
            </a:r>
            <a:r>
              <a:rPr lang="en-US" sz="950" b="1" kern="0" spc="200" dirty="0">
                <a:solidFill>
                  <a:srgbClr val="0A60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· </a:t>
            </a:r>
            <a:r>
              <a:rPr lang="en-US" sz="950" b="1" kern="0" spc="200">
                <a:solidFill>
                  <a:srgbClr val="0A60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ROUTING AND DATA FLOW IN AGENTIC SYSTEMS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B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Agents post letters, not objects</a:t>
            </a:r>
            <a:endParaRPr lang="en-US" sz="2600" dirty="0"/>
          </a:p>
        </p:txBody>
      </p:sp>
      <p:sp>
        <p:nvSpPr>
          <p:cNvPr id="5" name="Title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207008"/>
            <a:ext cx="822960" cy="41148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Code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17320"/>
            <a:ext cx="3977640" cy="2194560"/>
          </a:xfrm>
          <a:prstGeom prst="rect">
            <a:avLst/>
          </a:prstGeom>
          <a:solidFill>
            <a:srgbClr val="0B2A3A"/>
          </a:solidFill>
          <a:ln w="12700">
            <a:solidFill>
              <a:srgbClr val="1D54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04088" y="1517904"/>
            <a:ext cx="3575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02B3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 · SENDING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04088" y="1764792"/>
            <a:ext cx="361188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02B3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Quote(BaseModel):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order_id: str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total: float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payload = quote.model_dump_json()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send("pricing_agent", payload)</a:t>
            </a:r>
            <a:endParaRPr lang="en-US" sz="950" dirty="0"/>
          </a:p>
        </p:txBody>
      </p:sp>
      <p:sp>
        <p:nvSpPr>
          <p:cNvPr id="9" name="Code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1417320"/>
            <a:ext cx="3977640" cy="2194560"/>
          </a:xfrm>
          <a:prstGeom prst="rect">
            <a:avLst/>
          </a:prstGeom>
          <a:solidFill>
            <a:srgbClr val="0B2A3A"/>
          </a:solidFill>
          <a:ln w="12700">
            <a:solidFill>
              <a:srgbClr val="1D54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64608" y="1517904"/>
            <a:ext cx="3575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02B3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 · RECEIVING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864608" y="1764792"/>
            <a:ext cx="361188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 = receive()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quote = Quote.model_validate_json(raw)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8FAE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frameworks usually do this for you -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8FAE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you need it when debugging a bad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8FAE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payload or talking to an outside system</a:t>
            </a:r>
            <a:endParaRPr lang="en-US" sz="950" dirty="0"/>
          </a:p>
        </p:txBody>
      </p:sp>
      <p:sp>
        <p:nvSpPr>
          <p:cNvPr id="12" name="Note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749040"/>
            <a:ext cx="8138160" cy="731520"/>
          </a:xfrm>
          <a:prstGeom prst="rect">
            <a:avLst/>
          </a:prstGeom>
          <a:solidFill>
            <a:srgbClr val="F4F7F9"/>
          </a:solidFill>
          <a:ln w="12700">
            <a:solidFill>
              <a:srgbClr val="E2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Panel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749040"/>
            <a:ext cx="54864" cy="731520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58952" y="3886200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0A60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SAME PROCESS? PASS THE OBJECT. DIFFERENT MACHINE? SERIALISE.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58952" y="4160520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JSON is the default envelope — a typed model on both ends keeps the contract honest.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AI Nanodegree — Udacity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229600" y="47091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B6B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49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>
                <a:solidFill>
                  <a:srgbClr val="0A60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LESSON 2 </a:t>
            </a:r>
            <a:r>
              <a:rPr lang="en-US" sz="950" b="1" kern="0" spc="200" dirty="0">
                <a:solidFill>
                  <a:srgbClr val="0A60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</a:t>
            </a:r>
            <a:r>
              <a:rPr lang="en-US" sz="950" b="1" kern="0" spc="200">
                <a:solidFill>
                  <a:srgbClr val="0A60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ROUTING AND DATA FLOW IN AGENTIC SYSTEMS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B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Routing: the mailroom for your agents</a:t>
            </a:r>
            <a:endParaRPr lang="en-US" sz="2600" dirty="0"/>
          </a:p>
        </p:txBody>
      </p:sp>
      <p:sp>
        <p:nvSpPr>
          <p:cNvPr id="5" name="Title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207008"/>
            <a:ext cx="822960" cy="41148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Code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17320"/>
            <a:ext cx="4937760" cy="2194560"/>
          </a:xfrm>
          <a:prstGeom prst="rect">
            <a:avLst/>
          </a:prstGeom>
          <a:solidFill>
            <a:srgbClr val="0B2A3A"/>
          </a:solidFill>
          <a:ln w="12700">
            <a:solidFill>
              <a:srgbClr val="1D54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04088" y="1517904"/>
            <a:ext cx="4535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02B3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 · THREE ROUTING STRATEGIES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04088" y="1764792"/>
            <a:ext cx="457200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8FAE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content-based - inspect the message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02B3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msg.type == "image": return vision_pool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8FAE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round-robin - spread the load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= pool[next(counter) % len(pool)]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8FAE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priority - urgent jumps the queue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heapq.heappush(q, (-msg.priority, msg))</a:t>
            </a:r>
            <a:endParaRPr lang="en-US" sz="950" dirty="0"/>
          </a:p>
        </p:txBody>
      </p:sp>
      <p:pic>
        <p:nvPicPr>
          <p:cNvPr id="9" name="Image 0" descr="Illustration: one incoming line entering a sorting node and splitting into three lanes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715000" y="1463040"/>
            <a:ext cx="2926080" cy="1965960"/>
          </a:xfrm>
          <a:prstGeom prst="rect">
            <a:avLst/>
          </a:prstGeom>
        </p:spPr>
      </p:pic>
      <p:sp>
        <p:nvSpPr>
          <p:cNvPr id="10" name="Caption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15000" y="3611880"/>
            <a:ext cx="2926080" cy="640080"/>
          </a:xfrm>
          <a:prstGeom prst="rect">
            <a:avLst/>
          </a:prstGeom>
          <a:solidFill>
            <a:srgbClr val="F4F7F9"/>
          </a:solidFill>
          <a:ln w="12700">
            <a:solidFill>
              <a:srgbClr val="E2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943600" y="37033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B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Routing picks the path. Data flow fixes the payload.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0292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AI Nanodegree — Udacity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229600" y="47091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B6B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>
                <a:solidFill>
                  <a:srgbClr val="0A60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LESSON 3 </a:t>
            </a:r>
            <a:r>
              <a:rPr lang="en-US" sz="950" b="1" kern="0" spc="200" dirty="0">
                <a:solidFill>
                  <a:srgbClr val="0A60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</a:t>
            </a:r>
            <a:r>
              <a:rPr lang="en-US" sz="950" b="1" kern="0" spc="200">
                <a:solidFill>
                  <a:srgbClr val="0A60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STATE MANAGEMENT IN MULTI-AGENT SYSTEMS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B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Pass the context, not the whole world</a:t>
            </a:r>
            <a:endParaRPr lang="en-US" sz="2600" dirty="0"/>
          </a:p>
        </p:txBody>
      </p:sp>
      <p:sp>
        <p:nvSpPr>
          <p:cNvPr id="5" name="Title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207008"/>
            <a:ext cx="822960" cy="41148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Code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17320"/>
            <a:ext cx="5257800" cy="2514600"/>
          </a:xfrm>
          <a:prstGeom prst="rect">
            <a:avLst/>
          </a:prstGeom>
          <a:solidFill>
            <a:srgbClr val="0B2A3A"/>
          </a:solidFill>
          <a:ln w="12700">
            <a:solidFill>
              <a:srgbClr val="1D54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04088" y="1517904"/>
            <a:ext cx="4855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02B3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 · SHARED STATE, SCOPED HANDOFFS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04088" y="1764792"/>
            <a:ext cx="4892040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02B3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 = {"customer_id": "ACME", "order_id": 12345,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"items": [{"sku": "PROD_A", "qty": 10}],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"needed_by": date(2025, 5, 9)}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8FAE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each worker gets only what it needs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stock = inventory_agent.run(items=state["items"])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quote = quoting_agent.run(items=state["items"],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customer=state["customer_id"],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stock=stock)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8FAE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state["quote"] = quote    # write it back</a:t>
            </a:r>
            <a:endParaRPr lang="en-US" sz="950" dirty="0"/>
          </a:p>
        </p:txBody>
      </p:sp>
      <p:sp>
        <p:nvSpPr>
          <p:cNvPr id="9" name="Note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89320" y="1417320"/>
            <a:ext cx="2651760" cy="2514600"/>
          </a:xfrm>
          <a:prstGeom prst="rect">
            <a:avLst/>
          </a:prstGeom>
          <a:solidFill>
            <a:srgbClr val="F4F7F9"/>
          </a:solidFill>
          <a:ln w="12700">
            <a:solidFill>
              <a:srgbClr val="E2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Panel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89320" y="1417320"/>
            <a:ext cx="54864" cy="2514600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45352" y="155448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0A60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EPHEMERAL VS PERSISTENT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245352" y="1828800"/>
            <a:ext cx="21945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Ephemeral — this conversation only</a:t>
            </a:r>
            <a:endParaRPr lang="en-US" sz="1050" dirty="0"/>
          </a:p>
          <a:p>
            <a:pPr marL="0" indent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Persistent — a DB, across sessions</a:t>
            </a:r>
            <a:endParaRPr lang="en-US" sz="1050" dirty="0"/>
          </a:p>
          <a:p>
            <a:pPr marL="0" indent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Transform between agents: enhance, filter, reformat</a:t>
            </a:r>
            <a:endParaRPr lang="en-US" sz="1050" dirty="0"/>
          </a:p>
          <a:p>
            <a:pPr marL="0" indent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Ask: where does the real truth live?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AI Nanodegree — Udacity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229600" y="47091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B6B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51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>
                <a:solidFill>
                  <a:srgbClr val="0A60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LESSON 3 </a:t>
            </a:r>
            <a:r>
              <a:rPr lang="en-US" sz="950" b="1" kern="0" spc="200" dirty="0">
                <a:solidFill>
                  <a:srgbClr val="0A60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</a:t>
            </a:r>
            <a:r>
              <a:rPr lang="en-US" sz="950" b="1" kern="0" spc="200">
                <a:solidFill>
                  <a:srgbClr val="0A60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STATE MANAGEMENT IN MULTI-AGENT SYSTEMS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B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Failing gracefully, six ways</a:t>
            </a:r>
            <a:endParaRPr lang="en-US" sz="2600" dirty="0"/>
          </a:p>
        </p:txBody>
      </p:sp>
      <p:sp>
        <p:nvSpPr>
          <p:cNvPr id="5" name="Title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207008"/>
            <a:ext cx="822960" cy="41148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17320"/>
            <a:ext cx="2560320" cy="1234440"/>
          </a:xfrm>
          <a:prstGeom prst="rect">
            <a:avLst/>
          </a:prstGeom>
          <a:solidFill>
            <a:srgbClr val="F4F7F9"/>
          </a:solidFill>
          <a:ln w="12700">
            <a:solidFill>
              <a:srgbClr val="E2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17320"/>
            <a:ext cx="54864" cy="1234440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58952" y="158191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B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Retry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58952" y="198424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Transient blips — back off exponentially.</a:t>
            </a:r>
            <a:endParaRPr lang="en-US" sz="1050" dirty="0"/>
          </a:p>
        </p:txBody>
      </p:sp>
      <p:sp>
        <p:nvSpPr>
          <p:cNvPr id="10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91840" y="1417320"/>
            <a:ext cx="2560320" cy="1234440"/>
          </a:xfrm>
          <a:prstGeom prst="rect">
            <a:avLst/>
          </a:prstGeom>
          <a:solidFill>
            <a:srgbClr val="F4F7F9"/>
          </a:solidFill>
          <a:ln w="12700">
            <a:solidFill>
              <a:srgbClr val="E2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91840" y="1417320"/>
            <a:ext cx="54864" cy="1234440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547872" y="158191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B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Fallback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547872" y="198424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 B: a simpler tool or another agent.</a:t>
            </a:r>
            <a:endParaRPr lang="en-US" sz="1050" dirty="0"/>
          </a:p>
        </p:txBody>
      </p:sp>
      <p:sp>
        <p:nvSpPr>
          <p:cNvPr id="14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80760" y="1417320"/>
            <a:ext cx="2560320" cy="1234440"/>
          </a:xfrm>
          <a:prstGeom prst="rect">
            <a:avLst/>
          </a:prstGeom>
          <a:solidFill>
            <a:srgbClr val="F4F7F9"/>
          </a:solidFill>
          <a:ln w="12700">
            <a:solidFill>
              <a:srgbClr val="E2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80760" y="1417320"/>
            <a:ext cx="54864" cy="1234440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336792" y="158191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B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336792" y="198424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Terminate cleanly, say what broke and where.</a:t>
            </a:r>
            <a:endParaRPr lang="en-US" sz="1050" dirty="0"/>
          </a:p>
        </p:txBody>
      </p:sp>
      <p:sp>
        <p:nvSpPr>
          <p:cNvPr id="18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880360"/>
            <a:ext cx="2560320" cy="1234440"/>
          </a:xfrm>
          <a:prstGeom prst="rect">
            <a:avLst/>
          </a:prstGeom>
          <a:solidFill>
            <a:srgbClr val="F4F7F9"/>
          </a:solidFill>
          <a:ln w="12700">
            <a:solidFill>
              <a:srgbClr val="E2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880360"/>
            <a:ext cx="54864" cy="1234440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58952" y="304495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B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Compensate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58952" y="344728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Charged the card but service failed? Undo it.</a:t>
            </a:r>
            <a:endParaRPr lang="en-US" sz="1050" dirty="0"/>
          </a:p>
        </p:txBody>
      </p:sp>
      <p:sp>
        <p:nvSpPr>
          <p:cNvPr id="22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91840" y="2880360"/>
            <a:ext cx="2560320" cy="1234440"/>
          </a:xfrm>
          <a:prstGeom prst="rect">
            <a:avLst/>
          </a:prstGeom>
          <a:solidFill>
            <a:srgbClr val="F4F7F9"/>
          </a:solidFill>
          <a:ln w="12700">
            <a:solidFill>
              <a:srgbClr val="E2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91840" y="2880360"/>
            <a:ext cx="54864" cy="1234440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547872" y="304495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B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Escalate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3547872" y="344728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 ambiguous to automate — hand to a human.</a:t>
            </a:r>
            <a:endParaRPr lang="en-US" sz="1050" dirty="0"/>
          </a:p>
        </p:txBody>
      </p:sp>
      <p:sp>
        <p:nvSpPr>
          <p:cNvPr id="26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80760" y="2880360"/>
            <a:ext cx="2560320" cy="1234440"/>
          </a:xfrm>
          <a:prstGeom prst="rect">
            <a:avLst/>
          </a:prstGeom>
          <a:solidFill>
            <a:srgbClr val="F4F7F9"/>
          </a:solidFill>
          <a:ln w="12700">
            <a:solidFill>
              <a:srgbClr val="E2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80760" y="2880360"/>
            <a:ext cx="54864" cy="1234440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336792" y="304495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B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Then log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336792" y="344728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Input, output and verdict for every step.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0292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AI Nanodegree — Udacity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229600" y="47091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B6B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52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>
                <a:solidFill>
                  <a:srgbClr val="0A60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LESSON 4 </a:t>
            </a:r>
            <a:r>
              <a:rPr lang="en-US" sz="950" b="1" kern="0" spc="200" dirty="0">
                <a:solidFill>
                  <a:srgbClr val="0A60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r>
              <a:rPr lang="en-US" sz="950" b="1" kern="0" spc="200">
                <a:solidFill>
                  <a:srgbClr val="0A60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MULTI-AGENT ORCHESTRATION AND STATE</a:t>
            </a:r>
            <a:r>
              <a:rPr lang="en-US" sz="950" b="1" kern="0" spc="200" dirty="0">
                <a:solidFill>
                  <a:srgbClr val="0A60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950" b="1" kern="0" spc="200">
                <a:solidFill>
                  <a:srgbClr val="0A60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COORDINATION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B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orders, one sack of flour</a:t>
            </a:r>
            <a:endParaRPr lang="en-US" sz="2600" dirty="0"/>
          </a:p>
        </p:txBody>
      </p:sp>
      <p:sp>
        <p:nvSpPr>
          <p:cNvPr id="5" name="Title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207008"/>
            <a:ext cx="822960" cy="41148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Code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17320"/>
            <a:ext cx="5257800" cy="2514600"/>
          </a:xfrm>
          <a:prstGeom prst="rect">
            <a:avLst/>
          </a:prstGeom>
          <a:solidFill>
            <a:srgbClr val="0B2A3A"/>
          </a:solidFill>
          <a:ln w="12700">
            <a:solidFill>
              <a:srgbClr val="1D54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04088" y="1517904"/>
            <a:ext cx="4855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02B3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 · CHECK AND RESERVE, ATOMICALLY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04088" y="1764792"/>
            <a:ext cx="4892040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02B3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reserve(self, order):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8FAE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with self.lock:          # one at a time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need = order.qty * 2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02B3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self.stock["flour"] &lt; need: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8FAE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False     # conflict detected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self.stock["flour"] -= need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02B3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True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8FAE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optimistic alternative: UPDATE ... WHERE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8FAE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version = 5  -&gt; 0 rows means someone won</a:t>
            </a:r>
            <a:endParaRPr lang="en-US" sz="950" dirty="0"/>
          </a:p>
        </p:txBody>
      </p:sp>
      <p:sp>
        <p:nvSpPr>
          <p:cNvPr id="9" name="Note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89320" y="1417320"/>
            <a:ext cx="2651760" cy="2514600"/>
          </a:xfrm>
          <a:prstGeom prst="rect">
            <a:avLst/>
          </a:prstGeom>
          <a:solidFill>
            <a:srgbClr val="F4F7F9"/>
          </a:solidFill>
          <a:ln w="12700">
            <a:solidFill>
              <a:srgbClr val="E2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Panel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89320" y="1417320"/>
            <a:ext cx="54864" cy="2514600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45352" y="155448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0A60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KEEPING AGENTS IN SYNC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245352" y="1828800"/>
            <a:ext cx="21945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Lean on the database — it has locks</a:t>
            </a:r>
            <a:endParaRPr lang="en-US" sz="1050" dirty="0"/>
          </a:p>
          <a:p>
            <a:pPr marL="0" indent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Broadcast events on critical changes</a:t>
            </a:r>
            <a:endParaRPr lang="en-US" sz="1050" dirty="0"/>
          </a:p>
          <a:p>
            <a:pPr marL="0" indent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Optimistic concurrency with versions</a:t>
            </a:r>
            <a:endParaRPr lang="en-US" sz="1050" dirty="0"/>
          </a:p>
          <a:p>
            <a:pPr marL="0" indent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Resolve by rule, rollback, or a human</a:t>
            </a:r>
            <a:endParaRPr lang="en-US" sz="1050" dirty="0"/>
          </a:p>
          <a:p>
            <a:pPr marL="0" indent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F3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Re-verify before acting on old reads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AI Nanodegree — Udacity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229600" y="47091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B6B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53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>
                <a:solidFill>
                  <a:srgbClr val="0A60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LESSON</a:t>
            </a:r>
            <a:r>
              <a:rPr lang="en-US" sz="950" b="1" kern="0" spc="200" dirty="0">
                <a:solidFill>
                  <a:srgbClr val="0A60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950" b="1" kern="0" spc="200">
                <a:solidFill>
                  <a:srgbClr val="0A60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</a:t>
            </a:r>
            <a:r>
              <a:rPr lang="en-US" sz="950" b="1" kern="0" spc="200" dirty="0">
                <a:solidFill>
                  <a:srgbClr val="0A60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</a:t>
            </a:r>
            <a:r>
              <a:rPr lang="en-US" sz="950" b="1" kern="0" spc="200">
                <a:solidFill>
                  <a:srgbClr val="0A60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MULTI-AGENT RETRIEVAL AUGMENTED GENERATION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B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Multi-agent RAG: a research team</a:t>
            </a:r>
            <a:endParaRPr lang="en-US" sz="2600" dirty="0"/>
          </a:p>
        </p:txBody>
      </p:sp>
      <p:sp>
        <p:nvSpPr>
          <p:cNvPr id="5" name="Title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207008"/>
            <a:ext cx="822960" cy="41148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Code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17320"/>
            <a:ext cx="4937760" cy="2377440"/>
          </a:xfrm>
          <a:prstGeom prst="rect">
            <a:avLst/>
          </a:prstGeom>
          <a:solidFill>
            <a:srgbClr val="0B2A3A"/>
          </a:solidFill>
          <a:ln w="12700">
            <a:solidFill>
              <a:srgbClr val="1D54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04088" y="1517904"/>
            <a:ext cx="4535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02B3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 · DELEGATE, THEN SYNTHESISE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04088" y="1764792"/>
            <a:ext cx="4572000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02B3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SPECIALISTS = {"papers": pubmed_agent,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"trials": trials_agent,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"news":   news_agent,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"sql":    database_agent}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8FAE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needed = coordinator.pick(query)   # not always all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 = run_parallel(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6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{k: SPECIALISTS[k].search(query) for k in needed})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02B3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synthesis_agent.write(query, context)</a:t>
            </a:r>
            <a:endParaRPr lang="en-US" sz="950" dirty="0"/>
          </a:p>
        </p:txBody>
      </p:sp>
      <p:pic>
        <p:nvPicPr>
          <p:cNvPr id="9" name="Image 0" descr="Illustration: three specialist nodes each drawing from a data source and converging into one output node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715000" y="1463040"/>
            <a:ext cx="2926080" cy="1965960"/>
          </a:xfrm>
          <a:prstGeom prst="rect">
            <a:avLst/>
          </a:prstGeom>
        </p:spPr>
      </p:pic>
      <p:sp>
        <p:nvSpPr>
          <p:cNvPr id="10" name="Caption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15000" y="3611880"/>
            <a:ext cx="2926080" cy="640080"/>
          </a:xfrm>
          <a:prstGeom prst="rect">
            <a:avLst/>
          </a:prstGeom>
          <a:solidFill>
            <a:srgbClr val="F4F7F9"/>
          </a:solidFill>
          <a:ln w="12700">
            <a:solidFill>
              <a:srgbClr val="E2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943600" y="37033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B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pipeline struggles to mix SQL rows with free text. A team doesn't.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0292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AI Nanodegree — Udacity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229600" y="47091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B6B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54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2B3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COURSE 4 · RECAP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 are the architect</a:t>
            </a:r>
            <a:endParaRPr lang="en-US" sz="2600" dirty="0"/>
          </a:p>
        </p:txBody>
      </p:sp>
      <p:sp>
        <p:nvSpPr>
          <p:cNvPr id="5" name="Number bulle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627632"/>
            <a:ext cx="256032" cy="256032"/>
          </a:xfrm>
          <a:prstGeom prst="ellipse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60120" y="1591056"/>
            <a:ext cx="7635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6E7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Draw the org chart first — orchestrator for order, peer-to-peer for flexibility.</a:t>
            </a:r>
            <a:endParaRPr lang="en-US" sz="1250" dirty="0"/>
          </a:p>
        </p:txBody>
      </p:sp>
      <p:sp>
        <p:nvSpPr>
          <p:cNvPr id="8" name="Number bulle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176272"/>
            <a:ext cx="256032" cy="256032"/>
          </a:xfrm>
          <a:prstGeom prst="ellipse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2194560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60120" y="2139696"/>
            <a:ext cx="7635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6E7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system prompt is the job description: role, scope, limits, tools.</a:t>
            </a:r>
            <a:endParaRPr lang="en-US" sz="1250" dirty="0"/>
          </a:p>
        </p:txBody>
      </p:sp>
      <p:sp>
        <p:nvSpPr>
          <p:cNvPr id="11" name="Number bulle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724912"/>
            <a:ext cx="256032" cy="256032"/>
          </a:xfrm>
          <a:prstGeom prst="ellipse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2743200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60120" y="2688336"/>
            <a:ext cx="7635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6E7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Sequential, parallel, conditional — every workflow is a mix of the three.</a:t>
            </a:r>
            <a:endParaRPr lang="en-US" sz="1250" dirty="0"/>
          </a:p>
        </p:txBody>
      </p:sp>
      <p:sp>
        <p:nvSpPr>
          <p:cNvPr id="14" name="Number bulle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273552"/>
            <a:ext cx="256032" cy="256032"/>
          </a:xfrm>
          <a:prstGeom prst="ellipse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3291840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60120" y="3236976"/>
            <a:ext cx="7635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6E7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Route on content, load or priority; reshape the payload on the way.</a:t>
            </a:r>
            <a:endParaRPr lang="en-US" sz="1250" dirty="0"/>
          </a:p>
        </p:txBody>
      </p:sp>
      <p:sp>
        <p:nvSpPr>
          <p:cNvPr id="17" name="Number bulle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822192"/>
            <a:ext cx="256032" cy="256032"/>
          </a:xfrm>
          <a:prstGeom prst="ellipse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3840480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60120" y="3785616"/>
            <a:ext cx="7635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6E7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Shared state plus conflict rules is what stops a team becoming a crowd.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427939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FC4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Specialisation is the whole trick — narrow agents, clear handoffs, one source of truth.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0292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A6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AI Nanodegree — Udacity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229600" y="47091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7FA6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55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[decorative] Top accent bar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2B3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PERSONAL TAKE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 took away from the program</a:t>
            </a:r>
            <a:endParaRPr lang="en-US" sz="2600" dirty="0"/>
          </a:p>
        </p:txBody>
      </p:sp>
      <p:sp>
        <p:nvSpPr>
          <p:cNvPr id="5" name="[decorative] Number bullet"/>
          <p:cNvSpPr/>
          <p:nvPr/>
        </p:nvSpPr>
        <p:spPr>
          <a:xfrm>
            <a:off x="548640" y="1536192"/>
            <a:ext cx="256032" cy="256032"/>
          </a:xfrm>
          <a:prstGeom prst="ellipse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60120" y="1481328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6E7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Great course to understand the basics and look under the hood of existing frameworks</a:t>
            </a:r>
            <a:endParaRPr lang="en-US" sz="1250" dirty="0"/>
          </a:p>
        </p:txBody>
      </p:sp>
      <p:sp>
        <p:nvSpPr>
          <p:cNvPr id="8" name="[decorative] Number bullet"/>
          <p:cNvSpPr/>
          <p:nvPr/>
        </p:nvSpPr>
        <p:spPr>
          <a:xfrm>
            <a:off x="548640" y="1975104"/>
            <a:ext cx="256032" cy="256032"/>
          </a:xfrm>
          <a:prstGeom prst="ellipse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199339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60120" y="1920240"/>
            <a:ext cx="7635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6E7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Actual framework courses (LangChain, LangGraph, MCP) might be closer to how things are implemented in real life</a:t>
            </a:r>
            <a:endParaRPr lang="en-US" sz="1250" dirty="0"/>
          </a:p>
        </p:txBody>
      </p:sp>
      <p:sp>
        <p:nvSpPr>
          <p:cNvPr id="11" name="[decorative] Number bullet"/>
          <p:cNvSpPr/>
          <p:nvPr/>
        </p:nvSpPr>
        <p:spPr>
          <a:xfrm>
            <a:off x="548640" y="2633472"/>
            <a:ext cx="256032" cy="256032"/>
          </a:xfrm>
          <a:prstGeom prst="ellipse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2651760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60120" y="2578608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6E7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 liked that this skillset applies to multiple problems in diverse industries</a:t>
            </a:r>
            <a:endParaRPr lang="en-US" sz="1250" dirty="0"/>
          </a:p>
        </p:txBody>
      </p:sp>
      <p:sp>
        <p:nvSpPr>
          <p:cNvPr id="14" name="[decorative] Number bullet"/>
          <p:cNvSpPr/>
          <p:nvPr/>
        </p:nvSpPr>
        <p:spPr>
          <a:xfrm>
            <a:off x="548640" y="3072384"/>
            <a:ext cx="256032" cy="256032"/>
          </a:xfrm>
          <a:prstGeom prst="ellipse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309067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60120" y="3017520"/>
            <a:ext cx="7635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6E7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Personally, I see how building agentic workflows and AI agents can become a new problem-solving paradigm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0292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A6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AI Nanodegree — Udacity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29600" y="47091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7FA6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56</a:t>
            </a:r>
            <a:endParaRPr lang="en-US" sz="900" dirty="0"/>
          </a:p>
        </p:txBody>
      </p:sp>
      <p:sp>
        <p:nvSpPr>
          <p:cNvPr id="19" name="[decorative] Number bullet"/>
          <p:cNvSpPr/>
          <p:nvPr/>
        </p:nvSpPr>
        <p:spPr>
          <a:xfrm>
            <a:off x="548640" y="3730752"/>
            <a:ext cx="256032" cy="256032"/>
          </a:xfrm>
          <a:prstGeom prst="ellipse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48640" y="3749040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000"/>
          </a:p>
        </p:txBody>
      </p:sp>
      <p:sp>
        <p:nvSpPr>
          <p:cNvPr id="21" name="Text 18"/>
          <p:cNvSpPr/>
          <p:nvPr/>
        </p:nvSpPr>
        <p:spPr>
          <a:xfrm>
            <a:off x="960120" y="3675888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6E7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 engineering is key to </a:t>
            </a:r>
            <a:r>
              <a:rPr lang="en-US" sz="1250">
                <a:solidFill>
                  <a:srgbClr val="D6E7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creating</a:t>
            </a:r>
            <a:r>
              <a:rPr lang="en-US" sz="1250" dirty="0">
                <a:solidFill>
                  <a:srgbClr val="D6E7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meaningful results</a:t>
            </a:r>
            <a:endParaRPr lang="en-US" sz="1250" dirty="0"/>
          </a:p>
        </p:txBody>
      </p:sp>
      <p:sp>
        <p:nvSpPr>
          <p:cNvPr id="22" name="[decorative] Number bullet"/>
          <p:cNvSpPr/>
          <p:nvPr/>
        </p:nvSpPr>
        <p:spPr>
          <a:xfrm>
            <a:off x="548640" y="4169663"/>
            <a:ext cx="256032" cy="256032"/>
          </a:xfrm>
          <a:prstGeom prst="ellipse">
            <a:avLst/>
          </a:prstGeom>
          <a:solidFill>
            <a:srgbClr val="02B3E4"/>
          </a:solidFill>
          <a:ln w="12700">
            <a:solidFill>
              <a:srgbClr val="02B3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548640" y="418795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000"/>
          </a:p>
        </p:txBody>
      </p:sp>
      <p:sp>
        <p:nvSpPr>
          <p:cNvPr id="24" name="Text 20"/>
          <p:cNvSpPr/>
          <p:nvPr/>
        </p:nvSpPr>
        <p:spPr>
          <a:xfrm>
            <a:off x="960120" y="4114800"/>
            <a:ext cx="7635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6E7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Good engineering practice is to evaluate the pipeline to overcome the non-deterministic nature of agentic workflows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b1c9b508-7c6e-42bd-bedf-808292653d6c}" enabled="1" method="Standard" siteId="{2882be50-2012-4d88-ac86-544124e120c8}" contentBits="3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6176</Words>
  <Application>Microsoft Macintosh PowerPoint</Application>
  <PresentationFormat>On-screen Show (16:9)</PresentationFormat>
  <Paragraphs>989</Paragraphs>
  <Slides>56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1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Schmoeller, Dominik (TV-CF)</dc:creator>
  <cp:lastModifiedBy>Schmoeller, Dominik (TV-CF)</cp:lastModifiedBy>
  <cp:revision>1</cp:revision>
  <dcterms:created xsi:type="dcterms:W3CDTF">2026-09-22T11:53:24Z</dcterms:created>
  <dcterms:modified xsi:type="dcterms:W3CDTF">2026-09-22T19:56:57Z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Theme:3</vt:lpwstr>
  </property>
  <property fmtid="{D5CDD505-2E9C-101B-9397-08002B2CF9AE}" pid="3" name="ClassificationContentMarkingFooterText">
    <vt:lpwstr>INTERNAL</vt:lpwstr>
  </property>
</Properties>
</file>